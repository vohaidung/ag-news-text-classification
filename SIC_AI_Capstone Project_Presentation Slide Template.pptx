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83" r:id="rId1"/>
  </p:sldMasterIdLst>
  <p:notesMasterIdLst>
    <p:notesMasterId r:id="rId15"/>
  </p:notesMasterIdLst>
  <p:sldIdLst>
    <p:sldId id="790" r:id="rId2"/>
    <p:sldId id="791" r:id="rId3"/>
    <p:sldId id="792" r:id="rId4"/>
    <p:sldId id="793" r:id="rId5"/>
    <p:sldId id="794" r:id="rId6"/>
    <p:sldId id="795" r:id="rId7"/>
    <p:sldId id="796" r:id="rId8"/>
    <p:sldId id="797" r:id="rId9"/>
    <p:sldId id="798" r:id="rId10"/>
    <p:sldId id="799" r:id="rId11"/>
    <p:sldId id="800" r:id="rId12"/>
    <p:sldId id="801" r:id="rId13"/>
    <p:sldId id="788" r:id="rId14"/>
  </p:sldIdLst>
  <p:sldSz cx="9902825" cy="6858000"/>
  <p:notesSz cx="6858000" cy="9144000"/>
  <p:embeddedFontLst>
    <p:embeddedFont>
      <p:font typeface="맑은 고딕" panose="020B0503020000020004" pitchFamily="34" charset="-127"/>
      <p:regular r:id="rId16"/>
      <p:bold r:id="rId17"/>
    </p:embeddedFont>
    <p:embeddedFont>
      <p:font typeface="Samsung Sharp Sans" panose="020B0604020202020204" charset="0"/>
      <p:bold r:id="rId18"/>
    </p:embeddedFont>
    <p:embeddedFont>
      <p:font typeface="SamsungOne 400" panose="020B0503030303020204" charset="0"/>
      <p:regular r:id="rId19"/>
    </p:embeddedFont>
    <p:embeddedFont>
      <p:font typeface="SamsungOne 400C" panose="020B0506030303020204" charset="0"/>
      <p:regular r:id="rId20"/>
    </p:embeddedFont>
    <p:embeddedFont>
      <p:font typeface="SamsungOne 700" panose="020B0803030303020204" charset="0"/>
      <p:bold r:id="rId2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119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3EB0"/>
    <a:srgbClr val="FFB546"/>
    <a:srgbClr val="FF4337"/>
    <a:srgbClr val="00B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72205" autoAdjust="0"/>
  </p:normalViewPr>
  <p:slideViewPr>
    <p:cSldViewPr snapToGrid="0">
      <p:cViewPr varScale="1">
        <p:scale>
          <a:sx n="82" d="100"/>
          <a:sy n="82" d="100"/>
        </p:scale>
        <p:origin x="562" y="72"/>
      </p:cViewPr>
      <p:guideLst>
        <p:guide pos="3119"/>
        <p:guide orient="horz" pos="2160"/>
      </p:guideLst>
    </p:cSldViewPr>
  </p:slid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B57C17-E6FD-4AF5-A787-31E9CCE99A85}" type="datetimeFigureOut">
              <a:rPr lang="ko-KR" altLang="en-US" smtClean="0"/>
              <a:t>2026-06-03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59C55F-00F1-4985-9065-F2D92AE05D0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12534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107951CE-0A5B-4EC7-B663-290867B6A3B2}"/>
              </a:ext>
            </a:extLst>
          </p:cNvPr>
          <p:cNvCxnSpPr/>
          <p:nvPr userDrawn="1"/>
        </p:nvCxnSpPr>
        <p:spPr>
          <a:xfrm>
            <a:off x="449468" y="6424935"/>
            <a:ext cx="900071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15">
            <a:extLst>
              <a:ext uri="{FF2B5EF4-FFF2-40B4-BE49-F238E27FC236}">
                <a16:creationId xmlns:a16="http://schemas.microsoft.com/office/drawing/2014/main" id="{DB8B1220-1660-457F-B990-656A8230EA54}"/>
              </a:ext>
            </a:extLst>
          </p:cNvPr>
          <p:cNvSpPr txBox="1">
            <a:spLocks/>
          </p:cNvSpPr>
          <p:nvPr userDrawn="1"/>
        </p:nvSpPr>
        <p:spPr>
          <a:xfrm>
            <a:off x="8836343" y="6498001"/>
            <a:ext cx="613839" cy="138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defPPr>
              <a:defRPr lang="ko-KR"/>
            </a:defPPr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  <a:latin typeface="SamsungOne 300" panose="020B0303030303020204" pitchFamily="34" charset="0"/>
                <a:ea typeface="SamsungOne 300" panose="020B0303030303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r" defTabSz="91409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977B04-C971-4466-AB79-612C9E649B30}" type="slidenum">
              <a:rPr lang="en-US" altLang="ko-KR" sz="900" smtClean="0">
                <a:solidFill>
                  <a:schemeClr val="bg1">
                    <a:lumMod val="50000"/>
                  </a:schemeClr>
                </a:solidFill>
                <a:latin typeface="SamsungOne 400" panose="020B0503030303020204" pitchFamily="34" charset="0"/>
                <a:ea typeface="SamsungOne 400" panose="020B0503030303020204" pitchFamily="34" charset="0"/>
              </a:rPr>
              <a:pPr marL="0" marR="0" lvl="0" indent="0" algn="r" defTabSz="914094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altLang="ko-KR" sz="900" dirty="0">
              <a:solidFill>
                <a:schemeClr val="bg1">
                  <a:lumMod val="50000"/>
                </a:schemeClr>
              </a:solidFill>
              <a:latin typeface="SamsungOne 400" panose="020B0503030303020204" pitchFamily="34" charset="0"/>
              <a:ea typeface="SamsungOne 400" panose="020B0503030303020204" pitchFamily="34" charset="0"/>
              <a:cs typeface="Arial Unicode MS" panose="020B0604020202020204" pitchFamily="50" charset="-127"/>
            </a:endParaRPr>
          </a:p>
        </p:txBody>
      </p:sp>
      <p:sp>
        <p:nvSpPr>
          <p:cNvPr id="14" name="직사각형 7">
            <a:extLst>
              <a:ext uri="{FF2B5EF4-FFF2-40B4-BE49-F238E27FC236}">
                <a16:creationId xmlns:a16="http://schemas.microsoft.com/office/drawing/2014/main" id="{AA07D337-B9C3-4E5E-811E-AEFBB17ADEF5}"/>
              </a:ext>
            </a:extLst>
          </p:cNvPr>
          <p:cNvSpPr/>
          <p:nvPr userDrawn="1"/>
        </p:nvSpPr>
        <p:spPr>
          <a:xfrm>
            <a:off x="449468" y="6498001"/>
            <a:ext cx="2888788" cy="1692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pPr algn="l"/>
            <a:r>
              <a:rPr lang="en-US" altLang="ko-KR" sz="1100" b="0" dirty="0">
                <a:solidFill>
                  <a:schemeClr val="bg1">
                    <a:lumMod val="50000"/>
                  </a:schemeClr>
                </a:solidFill>
                <a:latin typeface="Samsung Sharp Sans Bold" pitchFamily="2" charset="0"/>
                <a:ea typeface="Samsung Sharp Sans Bold" pitchFamily="2" charset="0"/>
                <a:cs typeface="Samsung Sharp Sans Bold" pitchFamily="2" charset="0"/>
              </a:rPr>
              <a:t>Samsung Innovation Campus</a:t>
            </a:r>
          </a:p>
        </p:txBody>
      </p:sp>
      <p:sp>
        <p:nvSpPr>
          <p:cNvPr id="15" name="슬라이드 번호 개체 틀 15">
            <a:extLst>
              <a:ext uri="{FF2B5EF4-FFF2-40B4-BE49-F238E27FC236}">
                <a16:creationId xmlns:a16="http://schemas.microsoft.com/office/drawing/2014/main" id="{CCEC8F59-794B-4743-A6D7-1BC9720006CB}"/>
              </a:ext>
            </a:extLst>
          </p:cNvPr>
          <p:cNvSpPr txBox="1">
            <a:spLocks/>
          </p:cNvSpPr>
          <p:nvPr userDrawn="1"/>
        </p:nvSpPr>
        <p:spPr>
          <a:xfrm>
            <a:off x="6846858" y="6498001"/>
            <a:ext cx="2349501" cy="138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defPPr>
              <a:defRPr lang="ko-KR"/>
            </a:defPPr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  <a:latin typeface="SamsungOne 300" panose="020B0303030303020204" pitchFamily="34" charset="0"/>
                <a:ea typeface="SamsungOne 300" panose="020B0303030303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0" defTabSz="914094" latinLnBrk="1">
              <a:defRPr/>
            </a:pPr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  <a:latin typeface="Samsung Sharp Sans Medium" pitchFamily="2" charset="0"/>
                <a:ea typeface="Samsung Sharp Sans Medium" pitchFamily="2" charset="0"/>
                <a:cs typeface="Samsung Sharp Sans Medium" pitchFamily="2" charset="0"/>
              </a:rPr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39566679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85">
          <p15:clr>
            <a:srgbClr val="FBAE40"/>
          </p15:clr>
        </p15:guide>
        <p15:guide id="3" pos="5955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2825" cy="6858000"/>
          </a:xfrm>
          <a:prstGeom prst="rect">
            <a:avLst/>
          </a:prstGeom>
        </p:spPr>
      </p:pic>
      <p:sp>
        <p:nvSpPr>
          <p:cNvPr id="6" name="Freeform 5">
            <a:extLst>
              <a:ext uri="{FF2B5EF4-FFF2-40B4-BE49-F238E27FC236}">
                <a16:creationId xmlns:a16="http://schemas.microsoft.com/office/drawing/2014/main" id="{0D8AEED9-5E8F-4A4F-8427-AE314BEC60F8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449468" y="450000"/>
            <a:ext cx="1282022" cy="198000"/>
          </a:xfrm>
          <a:custGeom>
            <a:avLst/>
            <a:gdLst>
              <a:gd name="T0" fmla="*/ 82 w 2179"/>
              <a:gd name="T1" fmla="*/ 74 h 334"/>
              <a:gd name="T2" fmla="*/ 140 w 2179"/>
              <a:gd name="T3" fmla="*/ 82 h 334"/>
              <a:gd name="T4" fmla="*/ 218 w 2179"/>
              <a:gd name="T5" fmla="*/ 101 h 334"/>
              <a:gd name="T6" fmla="*/ 112 w 2179"/>
              <a:gd name="T7" fmla="*/ 0 h 334"/>
              <a:gd name="T8" fmla="*/ 4 w 2179"/>
              <a:gd name="T9" fmla="*/ 112 h 334"/>
              <a:gd name="T10" fmla="*/ 145 w 2179"/>
              <a:gd name="T11" fmla="*/ 257 h 334"/>
              <a:gd name="T12" fmla="*/ 84 w 2179"/>
              <a:gd name="T13" fmla="*/ 250 h 334"/>
              <a:gd name="T14" fmla="*/ 0 w 2179"/>
              <a:gd name="T15" fmla="*/ 220 h 334"/>
              <a:gd name="T16" fmla="*/ 113 w 2179"/>
              <a:gd name="T17" fmla="*/ 334 h 334"/>
              <a:gd name="T18" fmla="*/ 223 w 2179"/>
              <a:gd name="T19" fmla="*/ 212 h 334"/>
              <a:gd name="T20" fmla="*/ 1096 w 2179"/>
              <a:gd name="T21" fmla="*/ 91 h 334"/>
              <a:gd name="T22" fmla="*/ 1124 w 2179"/>
              <a:gd name="T23" fmla="*/ 54 h 334"/>
              <a:gd name="T24" fmla="*/ 1152 w 2179"/>
              <a:gd name="T25" fmla="*/ 102 h 334"/>
              <a:gd name="T26" fmla="*/ 1229 w 2179"/>
              <a:gd name="T27" fmla="*/ 80 h 334"/>
              <a:gd name="T28" fmla="*/ 1017 w 2179"/>
              <a:gd name="T29" fmla="*/ 71 h 334"/>
              <a:gd name="T30" fmla="*/ 1157 w 2179"/>
              <a:gd name="T31" fmla="*/ 233 h 334"/>
              <a:gd name="T32" fmla="*/ 1128 w 2179"/>
              <a:gd name="T33" fmla="*/ 277 h 334"/>
              <a:gd name="T34" fmla="*/ 1097 w 2179"/>
              <a:gd name="T35" fmla="*/ 219 h 334"/>
              <a:gd name="T36" fmla="*/ 1014 w 2179"/>
              <a:gd name="T37" fmla="*/ 243 h 334"/>
              <a:gd name="T38" fmla="*/ 1235 w 2179"/>
              <a:gd name="T39" fmla="*/ 262 h 334"/>
              <a:gd name="T40" fmla="*/ 1096 w 2179"/>
              <a:gd name="T41" fmla="*/ 91 h 334"/>
              <a:gd name="T42" fmla="*/ 1730 w 2179"/>
              <a:gd name="T43" fmla="*/ 10 h 334"/>
              <a:gd name="T44" fmla="*/ 1614 w 2179"/>
              <a:gd name="T45" fmla="*/ 319 h 334"/>
              <a:gd name="T46" fmla="*/ 1686 w 2179"/>
              <a:gd name="T47" fmla="*/ 60 h 334"/>
              <a:gd name="T48" fmla="*/ 1876 w 2179"/>
              <a:gd name="T49" fmla="*/ 319 h 334"/>
              <a:gd name="T50" fmla="*/ 1799 w 2179"/>
              <a:gd name="T51" fmla="*/ 10 h 334"/>
              <a:gd name="T52" fmla="*/ 333 w 2179"/>
              <a:gd name="T53" fmla="*/ 10 h 334"/>
              <a:gd name="T54" fmla="*/ 360 w 2179"/>
              <a:gd name="T55" fmla="*/ 322 h 334"/>
              <a:gd name="T56" fmla="*/ 446 w 2179"/>
              <a:gd name="T57" fmla="*/ 322 h 334"/>
              <a:gd name="T58" fmla="*/ 472 w 2179"/>
              <a:gd name="T59" fmla="*/ 10 h 334"/>
              <a:gd name="T60" fmla="*/ 804 w 2179"/>
              <a:gd name="T61" fmla="*/ 10 h 334"/>
              <a:gd name="T62" fmla="*/ 725 w 2179"/>
              <a:gd name="T63" fmla="*/ 10 h 334"/>
              <a:gd name="T64" fmla="*/ 592 w 2179"/>
              <a:gd name="T65" fmla="*/ 322 h 334"/>
              <a:gd name="T66" fmla="*/ 671 w 2179"/>
              <a:gd name="T67" fmla="*/ 33 h 334"/>
              <a:gd name="T68" fmla="*/ 804 w 2179"/>
              <a:gd name="T69" fmla="*/ 322 h 334"/>
              <a:gd name="T70" fmla="*/ 860 w 2179"/>
              <a:gd name="T71" fmla="*/ 322 h 334"/>
              <a:gd name="T72" fmla="*/ 931 w 2179"/>
              <a:gd name="T73" fmla="*/ 10 h 334"/>
              <a:gd name="T74" fmla="*/ 1528 w 2179"/>
              <a:gd name="T75" fmla="*/ 10 h 334"/>
              <a:gd name="T76" fmla="*/ 1449 w 2179"/>
              <a:gd name="T77" fmla="*/ 241 h 334"/>
              <a:gd name="T78" fmla="*/ 1418 w 2179"/>
              <a:gd name="T79" fmla="*/ 275 h 334"/>
              <a:gd name="T80" fmla="*/ 1388 w 2179"/>
              <a:gd name="T81" fmla="*/ 241 h 334"/>
              <a:gd name="T82" fmla="*/ 1309 w 2179"/>
              <a:gd name="T83" fmla="*/ 10 h 334"/>
              <a:gd name="T84" fmla="*/ 1310 w 2179"/>
              <a:gd name="T85" fmla="*/ 254 h 334"/>
              <a:gd name="T86" fmla="*/ 1527 w 2179"/>
              <a:gd name="T87" fmla="*/ 254 h 334"/>
              <a:gd name="T88" fmla="*/ 1528 w 2179"/>
              <a:gd name="T89" fmla="*/ 10 h 334"/>
              <a:gd name="T90" fmla="*/ 2069 w 2179"/>
              <a:gd name="T91" fmla="*/ 192 h 334"/>
              <a:gd name="T92" fmla="*/ 2101 w 2179"/>
              <a:gd name="T93" fmla="*/ 237 h 334"/>
              <a:gd name="T94" fmla="*/ 2068 w 2179"/>
              <a:gd name="T95" fmla="*/ 272 h 334"/>
              <a:gd name="T96" fmla="*/ 2035 w 2179"/>
              <a:gd name="T97" fmla="*/ 237 h 334"/>
              <a:gd name="T98" fmla="*/ 2037 w 2179"/>
              <a:gd name="T99" fmla="*/ 80 h 334"/>
              <a:gd name="T100" fmla="*/ 2099 w 2179"/>
              <a:gd name="T101" fmla="*/ 80 h 334"/>
              <a:gd name="T102" fmla="*/ 2100 w 2179"/>
              <a:gd name="T103" fmla="*/ 110 h 334"/>
              <a:gd name="T104" fmla="*/ 2178 w 2179"/>
              <a:gd name="T105" fmla="*/ 99 h 334"/>
              <a:gd name="T106" fmla="*/ 2068 w 2179"/>
              <a:gd name="T107" fmla="*/ 2 h 334"/>
              <a:gd name="T108" fmla="*/ 1958 w 2179"/>
              <a:gd name="T109" fmla="*/ 99 h 334"/>
              <a:gd name="T110" fmla="*/ 1959 w 2179"/>
              <a:gd name="T111" fmla="*/ 251 h 334"/>
              <a:gd name="T112" fmla="*/ 2178 w 2179"/>
              <a:gd name="T113" fmla="*/ 251 h 334"/>
              <a:gd name="T114" fmla="*/ 2179 w 2179"/>
              <a:gd name="T115" fmla="*/ 147 h 3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2179" h="334">
                <a:moveTo>
                  <a:pt x="83" y="91"/>
                </a:moveTo>
                <a:cubicBezTo>
                  <a:pt x="81" y="84"/>
                  <a:pt x="82" y="78"/>
                  <a:pt x="82" y="74"/>
                </a:cubicBezTo>
                <a:cubicBezTo>
                  <a:pt x="84" y="64"/>
                  <a:pt x="91" y="53"/>
                  <a:pt x="111" y="53"/>
                </a:cubicBezTo>
                <a:cubicBezTo>
                  <a:pt x="129" y="53"/>
                  <a:pt x="140" y="65"/>
                  <a:pt x="140" y="82"/>
                </a:cubicBezTo>
                <a:cubicBezTo>
                  <a:pt x="140" y="101"/>
                  <a:pt x="140" y="101"/>
                  <a:pt x="140" y="101"/>
                </a:cubicBezTo>
                <a:cubicBezTo>
                  <a:pt x="218" y="101"/>
                  <a:pt x="218" y="101"/>
                  <a:pt x="218" y="101"/>
                </a:cubicBezTo>
                <a:cubicBezTo>
                  <a:pt x="218" y="79"/>
                  <a:pt x="218" y="79"/>
                  <a:pt x="218" y="79"/>
                </a:cubicBezTo>
                <a:cubicBezTo>
                  <a:pt x="218" y="11"/>
                  <a:pt x="156" y="0"/>
                  <a:pt x="112" y="0"/>
                </a:cubicBezTo>
                <a:cubicBezTo>
                  <a:pt x="57" y="0"/>
                  <a:pt x="12" y="19"/>
                  <a:pt x="4" y="70"/>
                </a:cubicBezTo>
                <a:cubicBezTo>
                  <a:pt x="1" y="84"/>
                  <a:pt x="1" y="96"/>
                  <a:pt x="4" y="112"/>
                </a:cubicBezTo>
                <a:cubicBezTo>
                  <a:pt x="18" y="175"/>
                  <a:pt x="128" y="194"/>
                  <a:pt x="145" y="234"/>
                </a:cubicBezTo>
                <a:cubicBezTo>
                  <a:pt x="148" y="241"/>
                  <a:pt x="147" y="251"/>
                  <a:pt x="145" y="257"/>
                </a:cubicBezTo>
                <a:cubicBezTo>
                  <a:pt x="143" y="267"/>
                  <a:pt x="136" y="278"/>
                  <a:pt x="115" y="278"/>
                </a:cubicBezTo>
                <a:cubicBezTo>
                  <a:pt x="95" y="278"/>
                  <a:pt x="84" y="267"/>
                  <a:pt x="84" y="250"/>
                </a:cubicBezTo>
                <a:cubicBezTo>
                  <a:pt x="83" y="220"/>
                  <a:pt x="83" y="220"/>
                  <a:pt x="83" y="220"/>
                </a:cubicBezTo>
                <a:cubicBezTo>
                  <a:pt x="0" y="220"/>
                  <a:pt x="0" y="220"/>
                  <a:pt x="0" y="220"/>
                </a:cubicBezTo>
                <a:cubicBezTo>
                  <a:pt x="0" y="244"/>
                  <a:pt x="0" y="244"/>
                  <a:pt x="0" y="244"/>
                </a:cubicBezTo>
                <a:cubicBezTo>
                  <a:pt x="0" y="313"/>
                  <a:pt x="55" y="334"/>
                  <a:pt x="113" y="334"/>
                </a:cubicBezTo>
                <a:cubicBezTo>
                  <a:pt x="169" y="334"/>
                  <a:pt x="216" y="315"/>
                  <a:pt x="223" y="263"/>
                </a:cubicBezTo>
                <a:cubicBezTo>
                  <a:pt x="227" y="236"/>
                  <a:pt x="224" y="218"/>
                  <a:pt x="223" y="212"/>
                </a:cubicBezTo>
                <a:cubicBezTo>
                  <a:pt x="210" y="146"/>
                  <a:pt x="92" y="127"/>
                  <a:pt x="83" y="91"/>
                </a:cubicBezTo>
                <a:moveTo>
                  <a:pt x="1096" y="91"/>
                </a:moveTo>
                <a:cubicBezTo>
                  <a:pt x="1094" y="85"/>
                  <a:pt x="1095" y="79"/>
                  <a:pt x="1096" y="75"/>
                </a:cubicBezTo>
                <a:cubicBezTo>
                  <a:pt x="1098" y="65"/>
                  <a:pt x="1104" y="54"/>
                  <a:pt x="1124" y="54"/>
                </a:cubicBezTo>
                <a:cubicBezTo>
                  <a:pt x="1142" y="54"/>
                  <a:pt x="1152" y="66"/>
                  <a:pt x="1152" y="82"/>
                </a:cubicBezTo>
                <a:cubicBezTo>
                  <a:pt x="1152" y="102"/>
                  <a:pt x="1152" y="102"/>
                  <a:pt x="1152" y="102"/>
                </a:cubicBezTo>
                <a:cubicBezTo>
                  <a:pt x="1229" y="102"/>
                  <a:pt x="1229" y="102"/>
                  <a:pt x="1229" y="102"/>
                </a:cubicBezTo>
                <a:cubicBezTo>
                  <a:pt x="1229" y="80"/>
                  <a:pt x="1229" y="80"/>
                  <a:pt x="1229" y="80"/>
                </a:cubicBezTo>
                <a:cubicBezTo>
                  <a:pt x="1229" y="13"/>
                  <a:pt x="1169" y="2"/>
                  <a:pt x="1125" y="2"/>
                </a:cubicBezTo>
                <a:cubicBezTo>
                  <a:pt x="1070" y="2"/>
                  <a:pt x="1026" y="20"/>
                  <a:pt x="1017" y="71"/>
                </a:cubicBezTo>
                <a:cubicBezTo>
                  <a:pt x="1015" y="84"/>
                  <a:pt x="1015" y="97"/>
                  <a:pt x="1018" y="112"/>
                </a:cubicBezTo>
                <a:cubicBezTo>
                  <a:pt x="1032" y="175"/>
                  <a:pt x="1141" y="193"/>
                  <a:pt x="1157" y="233"/>
                </a:cubicBezTo>
                <a:cubicBezTo>
                  <a:pt x="1160" y="241"/>
                  <a:pt x="1159" y="250"/>
                  <a:pt x="1158" y="256"/>
                </a:cubicBezTo>
                <a:cubicBezTo>
                  <a:pt x="1155" y="267"/>
                  <a:pt x="1148" y="277"/>
                  <a:pt x="1128" y="277"/>
                </a:cubicBezTo>
                <a:cubicBezTo>
                  <a:pt x="1108" y="277"/>
                  <a:pt x="1097" y="266"/>
                  <a:pt x="1097" y="249"/>
                </a:cubicBezTo>
                <a:cubicBezTo>
                  <a:pt x="1097" y="219"/>
                  <a:pt x="1097" y="219"/>
                  <a:pt x="1097" y="219"/>
                </a:cubicBezTo>
                <a:cubicBezTo>
                  <a:pt x="1014" y="219"/>
                  <a:pt x="1014" y="219"/>
                  <a:pt x="1014" y="219"/>
                </a:cubicBezTo>
                <a:cubicBezTo>
                  <a:pt x="1014" y="243"/>
                  <a:pt x="1014" y="243"/>
                  <a:pt x="1014" y="243"/>
                </a:cubicBezTo>
                <a:cubicBezTo>
                  <a:pt x="1014" y="312"/>
                  <a:pt x="1068" y="332"/>
                  <a:pt x="1126" y="332"/>
                </a:cubicBezTo>
                <a:cubicBezTo>
                  <a:pt x="1182" y="332"/>
                  <a:pt x="1228" y="313"/>
                  <a:pt x="1235" y="262"/>
                </a:cubicBezTo>
                <a:cubicBezTo>
                  <a:pt x="1238" y="235"/>
                  <a:pt x="1236" y="218"/>
                  <a:pt x="1234" y="211"/>
                </a:cubicBezTo>
                <a:cubicBezTo>
                  <a:pt x="1221" y="147"/>
                  <a:pt x="1105" y="127"/>
                  <a:pt x="1096" y="91"/>
                </a:cubicBezTo>
                <a:moveTo>
                  <a:pt x="1803" y="261"/>
                </a:moveTo>
                <a:cubicBezTo>
                  <a:pt x="1730" y="10"/>
                  <a:pt x="1730" y="10"/>
                  <a:pt x="1730" y="10"/>
                </a:cubicBezTo>
                <a:cubicBezTo>
                  <a:pt x="1614" y="10"/>
                  <a:pt x="1614" y="10"/>
                  <a:pt x="1614" y="10"/>
                </a:cubicBezTo>
                <a:cubicBezTo>
                  <a:pt x="1614" y="319"/>
                  <a:pt x="1614" y="319"/>
                  <a:pt x="1614" y="319"/>
                </a:cubicBezTo>
                <a:cubicBezTo>
                  <a:pt x="1691" y="319"/>
                  <a:pt x="1691" y="319"/>
                  <a:pt x="1691" y="319"/>
                </a:cubicBezTo>
                <a:cubicBezTo>
                  <a:pt x="1686" y="60"/>
                  <a:pt x="1686" y="60"/>
                  <a:pt x="1686" y="60"/>
                </a:cubicBezTo>
                <a:cubicBezTo>
                  <a:pt x="1765" y="319"/>
                  <a:pt x="1765" y="319"/>
                  <a:pt x="1765" y="319"/>
                </a:cubicBezTo>
                <a:cubicBezTo>
                  <a:pt x="1876" y="319"/>
                  <a:pt x="1876" y="319"/>
                  <a:pt x="1876" y="319"/>
                </a:cubicBezTo>
                <a:cubicBezTo>
                  <a:pt x="1876" y="10"/>
                  <a:pt x="1876" y="10"/>
                  <a:pt x="1876" y="10"/>
                </a:cubicBezTo>
                <a:cubicBezTo>
                  <a:pt x="1799" y="10"/>
                  <a:pt x="1799" y="10"/>
                  <a:pt x="1799" y="10"/>
                </a:cubicBezTo>
                <a:lnTo>
                  <a:pt x="1803" y="261"/>
                </a:lnTo>
                <a:close/>
                <a:moveTo>
                  <a:pt x="333" y="10"/>
                </a:moveTo>
                <a:cubicBezTo>
                  <a:pt x="276" y="322"/>
                  <a:pt x="276" y="322"/>
                  <a:pt x="276" y="322"/>
                </a:cubicBezTo>
                <a:cubicBezTo>
                  <a:pt x="360" y="322"/>
                  <a:pt x="360" y="322"/>
                  <a:pt x="360" y="322"/>
                </a:cubicBezTo>
                <a:cubicBezTo>
                  <a:pt x="403" y="33"/>
                  <a:pt x="403" y="33"/>
                  <a:pt x="403" y="33"/>
                </a:cubicBezTo>
                <a:cubicBezTo>
                  <a:pt x="446" y="322"/>
                  <a:pt x="446" y="322"/>
                  <a:pt x="446" y="322"/>
                </a:cubicBezTo>
                <a:cubicBezTo>
                  <a:pt x="529" y="322"/>
                  <a:pt x="529" y="322"/>
                  <a:pt x="529" y="322"/>
                </a:cubicBezTo>
                <a:cubicBezTo>
                  <a:pt x="472" y="10"/>
                  <a:pt x="472" y="10"/>
                  <a:pt x="472" y="10"/>
                </a:cubicBezTo>
                <a:lnTo>
                  <a:pt x="333" y="10"/>
                </a:lnTo>
                <a:close/>
                <a:moveTo>
                  <a:pt x="804" y="10"/>
                </a:moveTo>
                <a:cubicBezTo>
                  <a:pt x="765" y="254"/>
                  <a:pt x="765" y="254"/>
                  <a:pt x="765" y="254"/>
                </a:cubicBezTo>
                <a:cubicBezTo>
                  <a:pt x="725" y="10"/>
                  <a:pt x="725" y="10"/>
                  <a:pt x="725" y="10"/>
                </a:cubicBezTo>
                <a:cubicBezTo>
                  <a:pt x="598" y="10"/>
                  <a:pt x="598" y="10"/>
                  <a:pt x="598" y="10"/>
                </a:cubicBezTo>
                <a:cubicBezTo>
                  <a:pt x="592" y="322"/>
                  <a:pt x="592" y="322"/>
                  <a:pt x="592" y="322"/>
                </a:cubicBezTo>
                <a:cubicBezTo>
                  <a:pt x="669" y="322"/>
                  <a:pt x="669" y="322"/>
                  <a:pt x="669" y="322"/>
                </a:cubicBezTo>
                <a:cubicBezTo>
                  <a:pt x="671" y="33"/>
                  <a:pt x="671" y="33"/>
                  <a:pt x="671" y="33"/>
                </a:cubicBezTo>
                <a:cubicBezTo>
                  <a:pt x="725" y="322"/>
                  <a:pt x="725" y="322"/>
                  <a:pt x="725" y="322"/>
                </a:cubicBezTo>
                <a:cubicBezTo>
                  <a:pt x="804" y="322"/>
                  <a:pt x="804" y="322"/>
                  <a:pt x="804" y="322"/>
                </a:cubicBezTo>
                <a:cubicBezTo>
                  <a:pt x="858" y="33"/>
                  <a:pt x="858" y="33"/>
                  <a:pt x="858" y="33"/>
                </a:cubicBezTo>
                <a:cubicBezTo>
                  <a:pt x="860" y="322"/>
                  <a:pt x="860" y="322"/>
                  <a:pt x="860" y="322"/>
                </a:cubicBezTo>
                <a:cubicBezTo>
                  <a:pt x="938" y="322"/>
                  <a:pt x="938" y="322"/>
                  <a:pt x="938" y="322"/>
                </a:cubicBezTo>
                <a:cubicBezTo>
                  <a:pt x="931" y="10"/>
                  <a:pt x="931" y="10"/>
                  <a:pt x="931" y="10"/>
                </a:cubicBezTo>
                <a:lnTo>
                  <a:pt x="804" y="10"/>
                </a:lnTo>
                <a:close/>
                <a:moveTo>
                  <a:pt x="1528" y="10"/>
                </a:moveTo>
                <a:cubicBezTo>
                  <a:pt x="1449" y="10"/>
                  <a:pt x="1449" y="10"/>
                  <a:pt x="1449" y="10"/>
                </a:cubicBezTo>
                <a:cubicBezTo>
                  <a:pt x="1449" y="241"/>
                  <a:pt x="1449" y="241"/>
                  <a:pt x="1449" y="241"/>
                </a:cubicBezTo>
                <a:cubicBezTo>
                  <a:pt x="1449" y="245"/>
                  <a:pt x="1449" y="249"/>
                  <a:pt x="1448" y="253"/>
                </a:cubicBezTo>
                <a:cubicBezTo>
                  <a:pt x="1447" y="260"/>
                  <a:pt x="1440" y="275"/>
                  <a:pt x="1418" y="275"/>
                </a:cubicBezTo>
                <a:cubicBezTo>
                  <a:pt x="1397" y="275"/>
                  <a:pt x="1390" y="260"/>
                  <a:pt x="1389" y="253"/>
                </a:cubicBezTo>
                <a:cubicBezTo>
                  <a:pt x="1388" y="249"/>
                  <a:pt x="1388" y="245"/>
                  <a:pt x="1388" y="241"/>
                </a:cubicBezTo>
                <a:cubicBezTo>
                  <a:pt x="1388" y="10"/>
                  <a:pt x="1388" y="10"/>
                  <a:pt x="1388" y="10"/>
                </a:cubicBezTo>
                <a:cubicBezTo>
                  <a:pt x="1309" y="10"/>
                  <a:pt x="1309" y="10"/>
                  <a:pt x="1309" y="10"/>
                </a:cubicBezTo>
                <a:cubicBezTo>
                  <a:pt x="1309" y="234"/>
                  <a:pt x="1309" y="234"/>
                  <a:pt x="1309" y="234"/>
                </a:cubicBezTo>
                <a:cubicBezTo>
                  <a:pt x="1309" y="239"/>
                  <a:pt x="1309" y="251"/>
                  <a:pt x="1310" y="254"/>
                </a:cubicBezTo>
                <a:cubicBezTo>
                  <a:pt x="1315" y="312"/>
                  <a:pt x="1361" y="331"/>
                  <a:pt x="1418" y="331"/>
                </a:cubicBezTo>
                <a:cubicBezTo>
                  <a:pt x="1476" y="331"/>
                  <a:pt x="1522" y="312"/>
                  <a:pt x="1527" y="254"/>
                </a:cubicBezTo>
                <a:cubicBezTo>
                  <a:pt x="1528" y="251"/>
                  <a:pt x="1528" y="239"/>
                  <a:pt x="1528" y="234"/>
                </a:cubicBezTo>
                <a:lnTo>
                  <a:pt x="1528" y="10"/>
                </a:lnTo>
                <a:close/>
                <a:moveTo>
                  <a:pt x="2069" y="147"/>
                </a:moveTo>
                <a:cubicBezTo>
                  <a:pt x="2069" y="192"/>
                  <a:pt x="2069" y="192"/>
                  <a:pt x="2069" y="192"/>
                </a:cubicBezTo>
                <a:cubicBezTo>
                  <a:pt x="2101" y="192"/>
                  <a:pt x="2101" y="192"/>
                  <a:pt x="2101" y="192"/>
                </a:cubicBezTo>
                <a:cubicBezTo>
                  <a:pt x="2101" y="237"/>
                  <a:pt x="2101" y="237"/>
                  <a:pt x="2101" y="237"/>
                </a:cubicBezTo>
                <a:cubicBezTo>
                  <a:pt x="2101" y="241"/>
                  <a:pt x="2101" y="246"/>
                  <a:pt x="2100" y="249"/>
                </a:cubicBezTo>
                <a:cubicBezTo>
                  <a:pt x="2099" y="258"/>
                  <a:pt x="2091" y="272"/>
                  <a:pt x="2068" y="272"/>
                </a:cubicBezTo>
                <a:cubicBezTo>
                  <a:pt x="2045" y="272"/>
                  <a:pt x="2038" y="258"/>
                  <a:pt x="2036" y="249"/>
                </a:cubicBezTo>
                <a:cubicBezTo>
                  <a:pt x="2036" y="246"/>
                  <a:pt x="2035" y="241"/>
                  <a:pt x="2035" y="237"/>
                </a:cubicBezTo>
                <a:cubicBezTo>
                  <a:pt x="2035" y="95"/>
                  <a:pt x="2035" y="95"/>
                  <a:pt x="2035" y="95"/>
                </a:cubicBezTo>
                <a:cubicBezTo>
                  <a:pt x="2035" y="90"/>
                  <a:pt x="2036" y="85"/>
                  <a:pt x="2037" y="80"/>
                </a:cubicBezTo>
                <a:cubicBezTo>
                  <a:pt x="2038" y="73"/>
                  <a:pt x="2045" y="58"/>
                  <a:pt x="2068" y="58"/>
                </a:cubicBezTo>
                <a:cubicBezTo>
                  <a:pt x="2092" y="58"/>
                  <a:pt x="2098" y="74"/>
                  <a:pt x="2099" y="80"/>
                </a:cubicBezTo>
                <a:cubicBezTo>
                  <a:pt x="2100" y="85"/>
                  <a:pt x="2100" y="92"/>
                  <a:pt x="2100" y="92"/>
                </a:cubicBezTo>
                <a:cubicBezTo>
                  <a:pt x="2100" y="110"/>
                  <a:pt x="2100" y="110"/>
                  <a:pt x="2100" y="110"/>
                </a:cubicBezTo>
                <a:cubicBezTo>
                  <a:pt x="2178" y="110"/>
                  <a:pt x="2178" y="110"/>
                  <a:pt x="2178" y="110"/>
                </a:cubicBezTo>
                <a:cubicBezTo>
                  <a:pt x="2178" y="99"/>
                  <a:pt x="2178" y="99"/>
                  <a:pt x="2178" y="99"/>
                </a:cubicBezTo>
                <a:cubicBezTo>
                  <a:pt x="2178" y="99"/>
                  <a:pt x="2179" y="89"/>
                  <a:pt x="2178" y="79"/>
                </a:cubicBezTo>
                <a:cubicBezTo>
                  <a:pt x="2172" y="20"/>
                  <a:pt x="2124" y="2"/>
                  <a:pt x="2068" y="2"/>
                </a:cubicBezTo>
                <a:cubicBezTo>
                  <a:pt x="2013" y="2"/>
                  <a:pt x="1966" y="21"/>
                  <a:pt x="1959" y="79"/>
                </a:cubicBezTo>
                <a:cubicBezTo>
                  <a:pt x="1958" y="84"/>
                  <a:pt x="1958" y="94"/>
                  <a:pt x="1958" y="99"/>
                </a:cubicBezTo>
                <a:cubicBezTo>
                  <a:pt x="1958" y="230"/>
                  <a:pt x="1958" y="230"/>
                  <a:pt x="1958" y="230"/>
                </a:cubicBezTo>
                <a:cubicBezTo>
                  <a:pt x="1958" y="236"/>
                  <a:pt x="1958" y="241"/>
                  <a:pt x="1959" y="251"/>
                </a:cubicBezTo>
                <a:cubicBezTo>
                  <a:pt x="1964" y="308"/>
                  <a:pt x="2013" y="328"/>
                  <a:pt x="2068" y="328"/>
                </a:cubicBezTo>
                <a:cubicBezTo>
                  <a:pt x="2124" y="328"/>
                  <a:pt x="2173" y="308"/>
                  <a:pt x="2178" y="251"/>
                </a:cubicBezTo>
                <a:cubicBezTo>
                  <a:pt x="2179" y="241"/>
                  <a:pt x="2179" y="236"/>
                  <a:pt x="2179" y="230"/>
                </a:cubicBezTo>
                <a:cubicBezTo>
                  <a:pt x="2179" y="147"/>
                  <a:pt x="2179" y="147"/>
                  <a:pt x="2179" y="147"/>
                </a:cubicBezTo>
                <a:lnTo>
                  <a:pt x="2069" y="147"/>
                </a:lnTo>
                <a:close/>
              </a:path>
            </a:pathLst>
          </a:custGeom>
          <a:solidFill>
            <a:srgbClr val="0924A5"/>
          </a:solidFill>
          <a:ln>
            <a:noFill/>
          </a:ln>
        </p:spPr>
        <p:txBody>
          <a:bodyPr vert="horz" wrap="square" lIns="91411" tIns="45705" rIns="91411" bIns="45705" numCol="1" anchor="t" anchorCtr="0" compatLnSpc="1">
            <a:prstTxWarp prst="textNoShape">
              <a:avLst/>
            </a:prstTxWarp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pPr marL="0" marR="0" lvl="0" indent="0" algn="l" defTabSz="914126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sz="1959" noProof="0" dirty="0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5631" y="6141164"/>
            <a:ext cx="1371564" cy="450000"/>
          </a:xfrm>
          <a:prstGeom prst="rect">
            <a:avLst/>
          </a:prstGeom>
        </p:spPr>
      </p:pic>
      <p:sp>
        <p:nvSpPr>
          <p:cNvPr id="7" name="직사각형 133">
            <a:extLst>
              <a:ext uri="{FF2B5EF4-FFF2-40B4-BE49-F238E27FC236}">
                <a16:creationId xmlns:a16="http://schemas.microsoft.com/office/drawing/2014/main" id="{DE8CAD59-3F29-4FBB-AE0A-697DDFD5E69E}"/>
              </a:ext>
            </a:extLst>
          </p:cNvPr>
          <p:cNvSpPr/>
          <p:nvPr userDrawn="1"/>
        </p:nvSpPr>
        <p:spPr>
          <a:xfrm>
            <a:off x="990000" y="4320000"/>
            <a:ext cx="5832526" cy="3693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pPr defTabSz="914400" latinLnBrk="1">
              <a:defRPr/>
            </a:pPr>
            <a:r>
              <a:rPr lang="en-US" altLang="ko-KR" sz="2400" baseline="0" dirty="0">
                <a:solidFill>
                  <a:srgbClr val="1428A0"/>
                </a:solidFill>
                <a:latin typeface="Samsung Sharp Sans" pitchFamily="2" charset="0"/>
                <a:ea typeface="Samsung Sharp Sans" pitchFamily="2" charset="0"/>
                <a:cs typeface="Samsung Sharp Sans" pitchFamily="2" charset="0"/>
              </a:rPr>
              <a:t>Artificial Intelligence Course</a:t>
            </a:r>
            <a:endParaRPr lang="ko-KR" altLang="en-US" sz="2400" dirty="0">
              <a:solidFill>
                <a:srgbClr val="1428A0"/>
              </a:solidFill>
              <a:latin typeface="Samsung Sharp Sans" pitchFamily="2" charset="0"/>
              <a:ea typeface="Samsung Sharp Sans" pitchFamily="2" charset="0"/>
              <a:cs typeface="Samsung Sharp Sans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6149771-D78D-40D7-8B97-564358008D8D}"/>
              </a:ext>
            </a:extLst>
          </p:cNvPr>
          <p:cNvSpPr/>
          <p:nvPr userDrawn="1"/>
        </p:nvSpPr>
        <p:spPr>
          <a:xfrm>
            <a:off x="724689" y="4320000"/>
            <a:ext cx="54000" cy="360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>
              <a:defRPr/>
            </a:pPr>
            <a:endParaRPr lang="ko-KR" altLang="en-US" dirty="0">
              <a:solidFill>
                <a:prstClr val="white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11" name="텍스트 개체 틀 18">
            <a:extLst>
              <a:ext uri="{FF2B5EF4-FFF2-40B4-BE49-F238E27FC236}">
                <a16:creationId xmlns:a16="http://schemas.microsoft.com/office/drawing/2014/main" id="{02AC410D-7805-4DA9-915F-991D726861C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0000" y="3551768"/>
            <a:ext cx="6837808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ko-KR" altLang="en-US" sz="1800" dirty="0">
                <a:solidFill>
                  <a:schemeClr val="bg1">
                    <a:lumMod val="50000"/>
                  </a:schemeClr>
                </a:solidFill>
                <a:latin typeface="Samsung Sharp Sans" pitchFamily="2" charset="0"/>
                <a:ea typeface="Samsung Sharp Sans" pitchFamily="2" charset="0"/>
                <a:cs typeface="Samsung Sharp Sans" pitchFamily="2" charset="0"/>
              </a:defRPr>
            </a:lvl1pPr>
          </a:lstStyle>
          <a:p>
            <a:pPr marL="0" lvl="0" defTabSz="457050" latinLnBrk="0"/>
            <a:r>
              <a:rPr lang="en-US" altLang="ko-KR" dirty="0"/>
              <a:t>Team Name</a:t>
            </a:r>
            <a:endParaRPr lang="ko-KR" altLang="en-US" dirty="0"/>
          </a:p>
        </p:txBody>
      </p:sp>
      <p:sp>
        <p:nvSpPr>
          <p:cNvPr id="12" name="제목 2">
            <a:extLst>
              <a:ext uri="{FF2B5EF4-FFF2-40B4-BE49-F238E27FC236}">
                <a16:creationId xmlns:a16="http://schemas.microsoft.com/office/drawing/2014/main" id="{44AF0917-EEBC-44C5-8BA6-F1CA2AFA4B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1710000"/>
            <a:ext cx="5221019" cy="14773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lvl1pPr>
              <a:lnSpc>
                <a:spcPct val="100000"/>
              </a:lnSpc>
              <a:defRPr lang="ko-KR" altLang="en-US" sz="4800">
                <a:solidFill>
                  <a:schemeClr val="tx1"/>
                </a:solidFill>
                <a:latin typeface="Samsung Sharp Sans" pitchFamily="2" charset="0"/>
                <a:ea typeface="Samsung Sharp Sans" pitchFamily="2" charset="0"/>
                <a:cs typeface="Samsung Sharp Sans" pitchFamily="2" charset="0"/>
              </a:defRPr>
            </a:lvl1pPr>
          </a:lstStyle>
          <a:p>
            <a:pPr marL="0" lvl="0" defTabSz="457200" latinLnBrk="0"/>
            <a:r>
              <a:rPr lang="en-US" altLang="ko-KR" dirty="0"/>
              <a:t>Project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en-US" altLang="ko-KR" dirty="0"/>
              <a:t>Name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32291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able of Content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88" y="0"/>
            <a:ext cx="9902825" cy="6858000"/>
          </a:xfrm>
          <a:prstGeom prst="rect">
            <a:avLst/>
          </a:prstGeom>
        </p:spPr>
      </p:pic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107951CE-0A5B-4EC7-B663-290867B6A3B2}"/>
              </a:ext>
            </a:extLst>
          </p:cNvPr>
          <p:cNvCxnSpPr/>
          <p:nvPr userDrawn="1"/>
        </p:nvCxnSpPr>
        <p:spPr>
          <a:xfrm>
            <a:off x="449468" y="6424935"/>
            <a:ext cx="900071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15">
            <a:extLst>
              <a:ext uri="{FF2B5EF4-FFF2-40B4-BE49-F238E27FC236}">
                <a16:creationId xmlns:a16="http://schemas.microsoft.com/office/drawing/2014/main" id="{DB8B1220-1660-457F-B990-656A8230EA54}"/>
              </a:ext>
            </a:extLst>
          </p:cNvPr>
          <p:cNvSpPr txBox="1">
            <a:spLocks/>
          </p:cNvSpPr>
          <p:nvPr userDrawn="1"/>
        </p:nvSpPr>
        <p:spPr>
          <a:xfrm>
            <a:off x="8836343" y="6498001"/>
            <a:ext cx="613839" cy="138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defPPr>
              <a:defRPr lang="ko-KR"/>
            </a:defPPr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  <a:latin typeface="SamsungOne 300" panose="020B0303030303020204" pitchFamily="34" charset="0"/>
                <a:ea typeface="SamsungOne 300" panose="020B0303030303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r" defTabSz="91409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977B04-C971-4466-AB79-612C9E649B30}" type="slidenum">
              <a:rPr lang="en-US" altLang="ko-KR" sz="900" smtClean="0">
                <a:solidFill>
                  <a:schemeClr val="bg1">
                    <a:lumMod val="50000"/>
                  </a:schemeClr>
                </a:solidFill>
                <a:latin typeface="SamsungOne 400" panose="020B0503030303020204" pitchFamily="34" charset="0"/>
                <a:ea typeface="SamsungOne 400" panose="020B0503030303020204" pitchFamily="34" charset="0"/>
              </a:rPr>
              <a:pPr marL="0" marR="0" lvl="0" indent="0" algn="r" defTabSz="914094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altLang="ko-KR" sz="900" dirty="0">
              <a:solidFill>
                <a:schemeClr val="bg1">
                  <a:lumMod val="50000"/>
                </a:schemeClr>
              </a:solidFill>
              <a:latin typeface="SamsungOne 400" panose="020B0503030303020204" pitchFamily="34" charset="0"/>
              <a:ea typeface="SamsungOne 400" panose="020B0503030303020204" pitchFamily="34" charset="0"/>
              <a:cs typeface="Arial Unicode MS" panose="020B0604020202020204" pitchFamily="50" charset="-127"/>
            </a:endParaRPr>
          </a:p>
        </p:txBody>
      </p:sp>
      <p:sp>
        <p:nvSpPr>
          <p:cNvPr id="14" name="직사각형 7">
            <a:extLst>
              <a:ext uri="{FF2B5EF4-FFF2-40B4-BE49-F238E27FC236}">
                <a16:creationId xmlns:a16="http://schemas.microsoft.com/office/drawing/2014/main" id="{AA07D337-B9C3-4E5E-811E-AEFBB17ADEF5}"/>
              </a:ext>
            </a:extLst>
          </p:cNvPr>
          <p:cNvSpPr/>
          <p:nvPr userDrawn="1"/>
        </p:nvSpPr>
        <p:spPr>
          <a:xfrm>
            <a:off x="449468" y="6498001"/>
            <a:ext cx="2888788" cy="1692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pPr algn="l"/>
            <a:r>
              <a:rPr lang="en-US" altLang="ko-KR" sz="1100" b="0" dirty="0">
                <a:solidFill>
                  <a:schemeClr val="bg1">
                    <a:lumMod val="50000"/>
                  </a:schemeClr>
                </a:solidFill>
                <a:latin typeface="Samsung Sharp Sans Bold" pitchFamily="2" charset="0"/>
                <a:ea typeface="Samsung Sharp Sans Bold" pitchFamily="2" charset="0"/>
                <a:cs typeface="Samsung Sharp Sans Bold" pitchFamily="2" charset="0"/>
              </a:rPr>
              <a:t>Samsung Innovation Campus</a:t>
            </a:r>
          </a:p>
        </p:txBody>
      </p:sp>
      <p:sp>
        <p:nvSpPr>
          <p:cNvPr id="7" name="직사각형 133">
            <a:extLst>
              <a:ext uri="{FF2B5EF4-FFF2-40B4-BE49-F238E27FC236}">
                <a16:creationId xmlns:a16="http://schemas.microsoft.com/office/drawing/2014/main" id="{7A4BCBFF-5289-45FE-BA09-DFF42AF8A347}"/>
              </a:ext>
            </a:extLst>
          </p:cNvPr>
          <p:cNvSpPr/>
          <p:nvPr userDrawn="1"/>
        </p:nvSpPr>
        <p:spPr>
          <a:xfrm>
            <a:off x="990000" y="4157757"/>
            <a:ext cx="3563339" cy="3231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pPr defTabSz="457200">
              <a:defRPr/>
            </a:pPr>
            <a:r>
              <a:rPr lang="en-US" altLang="ko-KR" sz="2100" dirty="0">
                <a:solidFill>
                  <a:srgbClr val="1428A0"/>
                </a:solidFill>
                <a:latin typeface="Samsung Sharp Sans" pitchFamily="2" charset="0"/>
                <a:ea typeface="Samsung Sharp Sans" pitchFamily="2" charset="0"/>
                <a:cs typeface="Samsung Sharp Sans" pitchFamily="2" charset="0"/>
              </a:rPr>
              <a:t>AI Course</a:t>
            </a:r>
            <a:endParaRPr lang="ko-KR" altLang="en-US" sz="2100" dirty="0">
              <a:solidFill>
                <a:srgbClr val="1428A0"/>
              </a:solidFill>
              <a:latin typeface="Samsung Sharp Sans" pitchFamily="2" charset="0"/>
              <a:ea typeface="Samsung Sharp Sans" pitchFamily="2" charset="0"/>
              <a:cs typeface="Samsung Sharp Sans" pitchFamily="2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AA6CFBD-D9B3-4245-A68B-1D7EC1CB6F07}"/>
              </a:ext>
            </a:extLst>
          </p:cNvPr>
          <p:cNvSpPr/>
          <p:nvPr userDrawn="1"/>
        </p:nvSpPr>
        <p:spPr>
          <a:xfrm>
            <a:off x="720000" y="2095275"/>
            <a:ext cx="60008" cy="1759369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>
              <a:defRPr/>
            </a:pPr>
            <a:endParaRPr lang="ko-KR" altLang="en-US" dirty="0">
              <a:solidFill>
                <a:prstClr val="white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B2EB59A-603F-4715-ABA1-D9DF69D44512}"/>
              </a:ext>
            </a:extLst>
          </p:cNvPr>
          <p:cNvSpPr/>
          <p:nvPr userDrawn="1"/>
        </p:nvSpPr>
        <p:spPr>
          <a:xfrm>
            <a:off x="720000" y="4157757"/>
            <a:ext cx="60008" cy="323165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>
              <a:defRPr/>
            </a:pPr>
            <a:endParaRPr lang="ko-KR" altLang="en-US" dirty="0">
              <a:solidFill>
                <a:prstClr val="white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CF6BC111-C555-4B09-8375-33C4F4C2FB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0000" y="2095275"/>
            <a:ext cx="5221019" cy="13542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lvl1pPr>
              <a:lnSpc>
                <a:spcPct val="100000"/>
              </a:lnSpc>
              <a:defRPr lang="ko-KR" altLang="en-US" sz="4400">
                <a:solidFill>
                  <a:schemeClr val="tx1"/>
                </a:solidFill>
                <a:latin typeface="Samsung Sharp Sans" pitchFamily="2" charset="0"/>
                <a:ea typeface="Samsung Sharp Sans" pitchFamily="2" charset="0"/>
                <a:cs typeface="Samsung Sharp Sans" pitchFamily="2" charset="0"/>
              </a:defRPr>
            </a:lvl1pPr>
          </a:lstStyle>
          <a:p>
            <a:pPr marL="0" lvl="0" defTabSz="457200" latinLnBrk="0"/>
            <a:r>
              <a:rPr lang="en-US" altLang="ko-KR" dirty="0"/>
              <a:t>Project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en-US" altLang="ko-KR" dirty="0"/>
              <a:t>Name</a:t>
            </a:r>
            <a:endParaRPr lang="ko-KR" altLang="en-US" dirty="0"/>
          </a:p>
        </p:txBody>
      </p:sp>
      <p:sp>
        <p:nvSpPr>
          <p:cNvPr id="17" name="텍스트 개체 틀 18">
            <a:extLst>
              <a:ext uri="{FF2B5EF4-FFF2-40B4-BE49-F238E27FC236}">
                <a16:creationId xmlns:a16="http://schemas.microsoft.com/office/drawing/2014/main" id="{CBEAE583-0BAA-455B-9555-B00A4FE8B1C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90000" y="3577645"/>
            <a:ext cx="6837808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ko-KR" altLang="en-US" sz="1800" dirty="0">
                <a:solidFill>
                  <a:schemeClr val="bg1">
                    <a:lumMod val="50000"/>
                  </a:schemeClr>
                </a:solidFill>
                <a:latin typeface="Samsung Sharp Sans" pitchFamily="2" charset="0"/>
                <a:ea typeface="Samsung Sharp Sans" pitchFamily="2" charset="0"/>
                <a:cs typeface="Samsung Sharp Sans" pitchFamily="2" charset="0"/>
              </a:defRPr>
            </a:lvl1pPr>
          </a:lstStyle>
          <a:p>
            <a:pPr marL="0" lvl="0" defTabSz="457050" latinLnBrk="0"/>
            <a:r>
              <a:rPr lang="en-US" altLang="ko-KR" dirty="0"/>
              <a:t>Team Name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0312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14" userDrawn="1">
          <p15:clr>
            <a:srgbClr val="FBAE40"/>
          </p15:clr>
        </p15:guide>
        <p15:guide id="2" pos="443" userDrawn="1">
          <p15:clr>
            <a:srgbClr val="FBAE40"/>
          </p15:clr>
        </p15:guide>
        <p15:guide id="3" pos="5955">
          <p15:clr>
            <a:srgbClr val="FBAE40"/>
          </p15:clr>
        </p15:guide>
        <p15:guide id="4" pos="60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2825" cy="6858000"/>
          </a:xfrm>
          <a:prstGeom prst="rect">
            <a:avLst/>
          </a:prstGeom>
        </p:spPr>
      </p:pic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107951CE-0A5B-4EC7-B663-290867B6A3B2}"/>
              </a:ext>
            </a:extLst>
          </p:cNvPr>
          <p:cNvCxnSpPr/>
          <p:nvPr userDrawn="1"/>
        </p:nvCxnSpPr>
        <p:spPr>
          <a:xfrm>
            <a:off x="449468" y="6424935"/>
            <a:ext cx="900071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15">
            <a:extLst>
              <a:ext uri="{FF2B5EF4-FFF2-40B4-BE49-F238E27FC236}">
                <a16:creationId xmlns:a16="http://schemas.microsoft.com/office/drawing/2014/main" id="{DB8B1220-1660-457F-B990-656A8230EA54}"/>
              </a:ext>
            </a:extLst>
          </p:cNvPr>
          <p:cNvSpPr txBox="1">
            <a:spLocks/>
          </p:cNvSpPr>
          <p:nvPr userDrawn="1"/>
        </p:nvSpPr>
        <p:spPr>
          <a:xfrm>
            <a:off x="8836343" y="6498001"/>
            <a:ext cx="613839" cy="138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defPPr>
              <a:defRPr lang="ko-KR"/>
            </a:defPPr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  <a:latin typeface="SamsungOne 300" panose="020B0303030303020204" pitchFamily="34" charset="0"/>
                <a:ea typeface="SamsungOne 300" panose="020B0303030303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r" defTabSz="91409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977B04-C971-4466-AB79-612C9E649B30}" type="slidenum">
              <a:rPr lang="en-US" altLang="ko-KR" sz="900" smtClean="0">
                <a:solidFill>
                  <a:schemeClr val="bg1">
                    <a:lumMod val="50000"/>
                  </a:schemeClr>
                </a:solidFill>
                <a:latin typeface="SamsungOne 400" panose="020B0503030303020204" pitchFamily="34" charset="0"/>
                <a:ea typeface="SamsungOne 400" panose="020B0503030303020204" pitchFamily="34" charset="0"/>
              </a:rPr>
              <a:pPr marL="0" marR="0" lvl="0" indent="0" algn="r" defTabSz="914094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altLang="ko-KR" sz="900" dirty="0">
              <a:solidFill>
                <a:schemeClr val="bg1">
                  <a:lumMod val="50000"/>
                </a:schemeClr>
              </a:solidFill>
              <a:latin typeface="SamsungOne 400" panose="020B0503030303020204" pitchFamily="34" charset="0"/>
              <a:ea typeface="SamsungOne 400" panose="020B0503030303020204" pitchFamily="34" charset="0"/>
              <a:cs typeface="Arial Unicode MS" panose="020B0604020202020204" pitchFamily="50" charset="-127"/>
            </a:endParaRPr>
          </a:p>
        </p:txBody>
      </p:sp>
      <p:sp>
        <p:nvSpPr>
          <p:cNvPr id="14" name="직사각형 7">
            <a:extLst>
              <a:ext uri="{FF2B5EF4-FFF2-40B4-BE49-F238E27FC236}">
                <a16:creationId xmlns:a16="http://schemas.microsoft.com/office/drawing/2014/main" id="{AA07D337-B9C3-4E5E-811E-AEFBB17ADEF5}"/>
              </a:ext>
            </a:extLst>
          </p:cNvPr>
          <p:cNvSpPr/>
          <p:nvPr userDrawn="1"/>
        </p:nvSpPr>
        <p:spPr>
          <a:xfrm>
            <a:off x="449468" y="6498001"/>
            <a:ext cx="2888788" cy="1692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pPr algn="l"/>
            <a:r>
              <a:rPr lang="en-US" altLang="ko-KR" sz="1100" b="0" dirty="0">
                <a:solidFill>
                  <a:schemeClr val="bg1">
                    <a:lumMod val="50000"/>
                  </a:schemeClr>
                </a:solidFill>
                <a:latin typeface="Samsung Sharp Sans Bold" pitchFamily="2" charset="0"/>
                <a:ea typeface="Samsung Sharp Sans Bold" pitchFamily="2" charset="0"/>
                <a:cs typeface="Samsung Sharp Sans Bold" pitchFamily="2" charset="0"/>
              </a:rPr>
              <a:t>Samsung Innovation Campus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4625E1FE-2B04-4D8E-A51A-6B9CEC7B37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468" y="1440000"/>
            <a:ext cx="8541187" cy="4924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lvl1pPr>
              <a:lnSpc>
                <a:spcPct val="100000"/>
              </a:lnSpc>
              <a:spcBef>
                <a:spcPts val="0"/>
              </a:spcBef>
              <a:defRPr lang="ko-KR" altLang="en-US" sz="3200">
                <a:solidFill>
                  <a:schemeClr val="tx1">
                    <a:lumMod val="95000"/>
                    <a:lumOff val="5000"/>
                  </a:schemeClr>
                </a:solidFill>
                <a:latin typeface="Samsung Sharp Sans" pitchFamily="2" charset="0"/>
                <a:ea typeface="Samsung Sharp Sans" pitchFamily="2" charset="0"/>
                <a:cs typeface="Samsung Sharp Sans" pitchFamily="2" charset="0"/>
              </a:defRPr>
            </a:lvl1pPr>
          </a:lstStyle>
          <a:p>
            <a:pPr marL="0" lvl="0" defTabSz="457050" latinLnBrk="0"/>
            <a:r>
              <a:rPr lang="en-US" altLang="ko-KR" dirty="0"/>
              <a:t>Slide Title</a:t>
            </a:r>
            <a:endParaRPr lang="ko-KR" altLang="en-US" dirty="0"/>
          </a:p>
        </p:txBody>
      </p:sp>
      <p:sp>
        <p:nvSpPr>
          <p:cNvPr id="19" name="텍스트 개체 틀 18">
            <a:extLst>
              <a:ext uri="{FF2B5EF4-FFF2-40B4-BE49-F238E27FC236}">
                <a16:creationId xmlns:a16="http://schemas.microsoft.com/office/drawing/2014/main" id="{DFEC8C6A-D95C-4B3C-9803-6F9071BF0C2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49468" y="450000"/>
            <a:ext cx="323896" cy="27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ko-KR" altLang="en-US" sz="1799" dirty="0">
                <a:solidFill>
                  <a:schemeClr val="bg1"/>
                </a:solidFill>
                <a:latin typeface="Samsung Sharp Sans Medium" pitchFamily="2" charset="0"/>
                <a:ea typeface="Samsung Sharp Sans Medium" pitchFamily="2" charset="0"/>
                <a:cs typeface="Samsung Sharp Sans Medium" pitchFamily="2" charset="0"/>
              </a:defRPr>
            </a:lvl1pPr>
          </a:lstStyle>
          <a:p>
            <a:pPr marL="0" lvl="0" defTabSz="457050" latinLnBrk="0"/>
            <a:r>
              <a:rPr lang="en-US" altLang="ko-KR" dirty="0"/>
              <a:t>No</a:t>
            </a:r>
            <a:endParaRPr lang="ko-KR" altLang="en-US" dirty="0"/>
          </a:p>
        </p:txBody>
      </p:sp>
      <p:sp>
        <p:nvSpPr>
          <p:cNvPr id="20" name="텍스트 개체 틀 18">
            <a:extLst>
              <a:ext uri="{FF2B5EF4-FFF2-40B4-BE49-F238E27FC236}">
                <a16:creationId xmlns:a16="http://schemas.microsoft.com/office/drawing/2014/main" id="{6DA22BCA-E7E2-4377-AD8E-AC1336C3DB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90000" y="450001"/>
            <a:ext cx="6837808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ko-KR" altLang="en-US" sz="1799" dirty="0">
                <a:solidFill>
                  <a:schemeClr val="bg1"/>
                </a:solidFill>
                <a:latin typeface="Samsung Sharp Sans Bold" pitchFamily="2" charset="0"/>
                <a:ea typeface="Samsung Sharp Sans Bold" pitchFamily="2" charset="0"/>
                <a:cs typeface="Samsung Sharp Sans Bold" pitchFamily="2" charset="0"/>
              </a:defRPr>
            </a:lvl1pPr>
          </a:lstStyle>
          <a:p>
            <a:pPr marL="0" lvl="0" defTabSz="457050" latinLnBrk="0"/>
            <a:r>
              <a:rPr lang="en-US" altLang="ko-KR" dirty="0"/>
              <a:t>Subtitle</a:t>
            </a:r>
            <a:endParaRPr lang="ko-KR" altLang="en-US" dirty="0"/>
          </a:p>
        </p:txBody>
      </p:sp>
      <p:sp>
        <p:nvSpPr>
          <p:cNvPr id="21" name="텍스트 개체 틀 18">
            <a:extLst>
              <a:ext uri="{FF2B5EF4-FFF2-40B4-BE49-F238E27FC236}">
                <a16:creationId xmlns:a16="http://schemas.microsoft.com/office/drawing/2014/main" id="{7647BD6A-5F13-45AE-859C-AF2BA0A739E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12825" y="480779"/>
            <a:ext cx="340625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altLang="en-US" sz="1600" dirty="0">
                <a:solidFill>
                  <a:schemeClr val="bg1">
                    <a:lumMod val="85000"/>
                  </a:schemeClr>
                </a:solidFill>
                <a:latin typeface="Samsung Sharp Sans Bold" pitchFamily="2" charset="0"/>
                <a:ea typeface="Samsung Sharp Sans Bold" pitchFamily="2" charset="0"/>
                <a:cs typeface="Samsung Sharp Sans Bold" pitchFamily="2" charset="0"/>
              </a:defRPr>
            </a:lvl1pPr>
          </a:lstStyle>
          <a:p>
            <a:pPr marL="0" lvl="0" algn="r" defTabSz="457063" latinLnBrk="0"/>
            <a:r>
              <a:rPr lang="en-US" altLang="ko-KR" dirty="0"/>
              <a:t>00</a:t>
            </a:r>
            <a:endParaRPr lang="ko-KR" altLang="en-US" dirty="0"/>
          </a:p>
        </p:txBody>
      </p:sp>
      <p:sp>
        <p:nvSpPr>
          <p:cNvPr id="23" name="텍스트 개체 틀 18">
            <a:extLst>
              <a:ext uri="{FF2B5EF4-FFF2-40B4-BE49-F238E27FC236}">
                <a16:creationId xmlns:a16="http://schemas.microsoft.com/office/drawing/2014/main" id="{3A9667F7-80AD-4A7A-8543-285975B06B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40667" y="480779"/>
            <a:ext cx="467850" cy="246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ko-KR" altLang="en-US" sz="1600" dirty="0">
                <a:solidFill>
                  <a:schemeClr val="bg1">
                    <a:lumMod val="85000"/>
                  </a:schemeClr>
                </a:solidFill>
                <a:latin typeface="Samsung Sharp Sans Medium" pitchFamily="2" charset="0"/>
                <a:ea typeface="Samsung Sharp Sans Medium" pitchFamily="2" charset="0"/>
                <a:cs typeface="Samsung Sharp Sans Medium" pitchFamily="2" charset="0"/>
              </a:defRPr>
            </a:lvl1pPr>
          </a:lstStyle>
          <a:p>
            <a:pPr marL="0" lvl="0" defTabSz="457050" latinLnBrk="0"/>
            <a:r>
              <a:rPr lang="en-US" altLang="ko-KR" dirty="0"/>
              <a:t>UNIT</a:t>
            </a:r>
            <a:endParaRPr lang="ko-KR" altLang="en-US" dirty="0"/>
          </a:p>
        </p:txBody>
      </p:sp>
      <p:sp>
        <p:nvSpPr>
          <p:cNvPr id="16" name="텍스트 개체 틀 7">
            <a:extLst>
              <a:ext uri="{FF2B5EF4-FFF2-40B4-BE49-F238E27FC236}">
                <a16:creationId xmlns:a16="http://schemas.microsoft.com/office/drawing/2014/main" id="{B6D584F0-F100-4FB4-B935-0E81DB1D3B5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2288" y="2221661"/>
            <a:ext cx="8055439" cy="914400"/>
          </a:xfrm>
          <a:prstGeom prst="rect">
            <a:avLst/>
          </a:prstGeom>
        </p:spPr>
        <p:txBody>
          <a:bodyPr lIns="0" tIns="0" rIns="0" bIns="0"/>
          <a:lstStyle>
            <a:lvl1pPr marL="177747" indent="-177747">
              <a:lnSpc>
                <a:spcPts val="1800"/>
              </a:lnSpc>
              <a:buSzPct val="105000"/>
              <a:buFontTx/>
              <a:buBlip>
                <a:blip r:embed="rId3"/>
              </a:buBlip>
              <a:defRPr kumimoji="1" lang="en-US" altLang="ko-KR" sz="1400" kern="1200" smtClean="0">
                <a:solidFill>
                  <a:prstClr val="black">
                    <a:lumMod val="85000"/>
                    <a:lumOff val="15000"/>
                  </a:prstClr>
                </a:solidFill>
                <a:latin typeface="SamsungOne 400" panose="020B0503030303020204" pitchFamily="34" charset="0"/>
                <a:ea typeface="SamsungOne 400" panose="020B0503030303020204" pitchFamily="34" charset="0"/>
                <a:cs typeface="+mn-cs"/>
              </a:defRPr>
            </a:lvl1pPr>
            <a:lvl2pPr marL="360255" indent="-182508">
              <a:lnSpc>
                <a:spcPts val="1800"/>
              </a:lnSpc>
              <a:buSzPct val="80000"/>
              <a:buFontTx/>
              <a:buBlip>
                <a:blip r:embed="rId4"/>
              </a:buBlip>
              <a:tabLst>
                <a:tab pos="447541" algn="l"/>
              </a:tabLst>
              <a:defRPr lang="en-US" altLang="ko-KR" sz="1300" kern="1200" dirty="0" smtClean="0">
                <a:solidFill>
                  <a:prstClr val="black">
                    <a:lumMod val="85000"/>
                    <a:lumOff val="15000"/>
                  </a:prstClr>
                </a:solidFill>
                <a:latin typeface="SamsungOne 400" panose="020B0503030303020204" pitchFamily="34" charset="0"/>
                <a:ea typeface="SamsungOne 400" panose="020B0503030303020204" pitchFamily="34" charset="0"/>
                <a:cs typeface="+mn-cs"/>
              </a:defRPr>
            </a:lvl2pPr>
          </a:lstStyle>
          <a:p>
            <a:pPr lvl="0"/>
            <a:r>
              <a:rPr lang="en-US" altLang="ko-KR" dirty="0"/>
              <a:t>Level1</a:t>
            </a:r>
          </a:p>
          <a:p>
            <a:pPr lvl="1"/>
            <a:r>
              <a:rPr lang="en-US" altLang="ko-KR" dirty="0"/>
              <a:t>Level2</a:t>
            </a:r>
          </a:p>
          <a:p>
            <a:pPr lvl="1"/>
            <a:endParaRPr lang="en-US" altLang="ko-KR" dirty="0"/>
          </a:p>
          <a:p>
            <a:pPr marL="628461" lvl="1" indent="-207901" algn="l" defTabSz="843830" rtl="0" eaLnBrk="1" latinLnBrk="1" hangingPunct="1">
              <a:lnSpc>
                <a:spcPct val="90000"/>
              </a:lnSpc>
              <a:spcBef>
                <a:spcPts val="462"/>
              </a:spcBef>
              <a:buSzPct val="90000"/>
              <a:buFontTx/>
              <a:buBlip>
                <a:blip r:embed="rId5"/>
              </a:buBlip>
            </a:pP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17" name="슬라이드 번호 개체 틀 15">
            <a:extLst>
              <a:ext uri="{FF2B5EF4-FFF2-40B4-BE49-F238E27FC236}">
                <a16:creationId xmlns:a16="http://schemas.microsoft.com/office/drawing/2014/main" id="{D63EAE99-E447-4D3D-BFEE-6F01BCEB93C6}"/>
              </a:ext>
            </a:extLst>
          </p:cNvPr>
          <p:cNvSpPr txBox="1">
            <a:spLocks/>
          </p:cNvSpPr>
          <p:nvPr userDrawn="1"/>
        </p:nvSpPr>
        <p:spPr>
          <a:xfrm>
            <a:off x="6846858" y="6498001"/>
            <a:ext cx="2349501" cy="138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defPPr>
              <a:defRPr lang="ko-KR"/>
            </a:defPPr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  <a:latin typeface="SamsungOne 300" panose="020B0303030303020204" pitchFamily="34" charset="0"/>
                <a:ea typeface="SamsungOne 300" panose="020B0303030303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0" defTabSz="914094" latinLnBrk="1">
              <a:defRPr/>
            </a:pPr>
            <a:r>
              <a:rPr lang="en-US" altLang="ko-KR" sz="900">
                <a:solidFill>
                  <a:schemeClr val="bg1">
                    <a:lumMod val="50000"/>
                  </a:schemeClr>
                </a:solidFill>
                <a:latin typeface="Samsung Sharp Sans Medium" pitchFamily="2" charset="0"/>
                <a:ea typeface="Samsung Sharp Sans Medium" pitchFamily="2" charset="0"/>
                <a:cs typeface="Samsung Sharp Sans Medium" pitchFamily="2" charset="0"/>
              </a:rPr>
              <a:t>AG News Text Classification</a:t>
            </a:r>
            <a:endParaRPr lang="en-US" altLang="ko-KR" sz="900" dirty="0">
              <a:solidFill>
                <a:schemeClr val="bg1">
                  <a:lumMod val="50000"/>
                </a:schemeClr>
              </a:solidFill>
              <a:latin typeface="Samsung Sharp Sans Medium" pitchFamily="2" charset="0"/>
              <a:ea typeface="Samsung Sharp Sans Medium" pitchFamily="2" charset="0"/>
              <a:cs typeface="Samsung Sharp Sans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2046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02" userDrawn="1">
          <p15:clr>
            <a:srgbClr val="FBAE40"/>
          </p15:clr>
        </p15:guide>
        <p15:guide id="2" pos="285">
          <p15:clr>
            <a:srgbClr val="FBAE40"/>
          </p15:clr>
        </p15:guide>
        <p15:guide id="3" pos="5955">
          <p15:clr>
            <a:srgbClr val="FBAE40"/>
          </p15:clr>
        </p15:guide>
        <p15:guide id="4" pos="32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2825" cy="6858000"/>
          </a:xfrm>
          <a:prstGeom prst="rect">
            <a:avLst/>
          </a:prstGeom>
        </p:spPr>
      </p:pic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107951CE-0A5B-4EC7-B663-290867B6A3B2}"/>
              </a:ext>
            </a:extLst>
          </p:cNvPr>
          <p:cNvCxnSpPr/>
          <p:nvPr userDrawn="1"/>
        </p:nvCxnSpPr>
        <p:spPr>
          <a:xfrm>
            <a:off x="449468" y="6424935"/>
            <a:ext cx="900071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15">
            <a:extLst>
              <a:ext uri="{FF2B5EF4-FFF2-40B4-BE49-F238E27FC236}">
                <a16:creationId xmlns:a16="http://schemas.microsoft.com/office/drawing/2014/main" id="{DB8B1220-1660-457F-B990-656A8230EA54}"/>
              </a:ext>
            </a:extLst>
          </p:cNvPr>
          <p:cNvSpPr txBox="1">
            <a:spLocks/>
          </p:cNvSpPr>
          <p:nvPr userDrawn="1"/>
        </p:nvSpPr>
        <p:spPr>
          <a:xfrm>
            <a:off x="8836343" y="6498001"/>
            <a:ext cx="613839" cy="138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defPPr>
              <a:defRPr lang="ko-KR"/>
            </a:defPPr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  <a:latin typeface="SamsungOne 300" panose="020B0303030303020204" pitchFamily="34" charset="0"/>
                <a:ea typeface="SamsungOne 300" panose="020B0303030303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r" defTabSz="91409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977B04-C971-4466-AB79-612C9E649B30}" type="slidenum">
              <a:rPr lang="en-US" altLang="ko-KR" sz="900" smtClean="0">
                <a:solidFill>
                  <a:schemeClr val="bg1">
                    <a:lumMod val="50000"/>
                  </a:schemeClr>
                </a:solidFill>
                <a:latin typeface="SamsungOne 400" panose="020B0503030303020204" pitchFamily="34" charset="0"/>
                <a:ea typeface="SamsungOne 400" panose="020B0503030303020204" pitchFamily="34" charset="0"/>
              </a:rPr>
              <a:pPr marL="0" marR="0" lvl="0" indent="0" algn="r" defTabSz="914094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altLang="ko-KR" sz="900" dirty="0">
              <a:solidFill>
                <a:schemeClr val="bg1">
                  <a:lumMod val="50000"/>
                </a:schemeClr>
              </a:solidFill>
              <a:latin typeface="SamsungOne 400" panose="020B0503030303020204" pitchFamily="34" charset="0"/>
              <a:ea typeface="SamsungOne 400" panose="020B0503030303020204" pitchFamily="34" charset="0"/>
              <a:cs typeface="Arial Unicode MS" panose="020B0604020202020204" pitchFamily="50" charset="-127"/>
            </a:endParaRPr>
          </a:p>
        </p:txBody>
      </p:sp>
      <p:sp>
        <p:nvSpPr>
          <p:cNvPr id="14" name="직사각형 7">
            <a:extLst>
              <a:ext uri="{FF2B5EF4-FFF2-40B4-BE49-F238E27FC236}">
                <a16:creationId xmlns:a16="http://schemas.microsoft.com/office/drawing/2014/main" id="{AA07D337-B9C3-4E5E-811E-AEFBB17ADEF5}"/>
              </a:ext>
            </a:extLst>
          </p:cNvPr>
          <p:cNvSpPr/>
          <p:nvPr userDrawn="1"/>
        </p:nvSpPr>
        <p:spPr>
          <a:xfrm>
            <a:off x="449468" y="6498001"/>
            <a:ext cx="2888788" cy="1692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pPr algn="l"/>
            <a:r>
              <a:rPr lang="en-US" altLang="ko-KR" sz="1100" b="0" dirty="0">
                <a:solidFill>
                  <a:schemeClr val="bg1">
                    <a:lumMod val="50000"/>
                  </a:schemeClr>
                </a:solidFill>
                <a:latin typeface="Samsung Sharp Sans Bold" pitchFamily="2" charset="0"/>
                <a:ea typeface="Samsung Sharp Sans Bold" pitchFamily="2" charset="0"/>
                <a:cs typeface="Samsung Sharp Sans Bold" pitchFamily="2" charset="0"/>
              </a:rPr>
              <a:t>Samsung Innovation Campus</a:t>
            </a:r>
          </a:p>
        </p:txBody>
      </p:sp>
      <p:sp>
        <p:nvSpPr>
          <p:cNvPr id="17" name="슬라이드 번호 개체 틀 15">
            <a:extLst>
              <a:ext uri="{FF2B5EF4-FFF2-40B4-BE49-F238E27FC236}">
                <a16:creationId xmlns:a16="http://schemas.microsoft.com/office/drawing/2014/main" id="{D63EAE99-E447-4D3D-BFEE-6F01BCEB93C6}"/>
              </a:ext>
            </a:extLst>
          </p:cNvPr>
          <p:cNvSpPr txBox="1">
            <a:spLocks/>
          </p:cNvSpPr>
          <p:nvPr userDrawn="1"/>
        </p:nvSpPr>
        <p:spPr>
          <a:xfrm>
            <a:off x="6846858" y="6498001"/>
            <a:ext cx="2349501" cy="138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defPPr>
              <a:defRPr lang="ko-KR"/>
            </a:defPPr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  <a:latin typeface="SamsungOne 300" panose="020B0303030303020204" pitchFamily="34" charset="0"/>
                <a:ea typeface="SamsungOne 300" panose="020B0303030303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0" defTabSz="914094" latinLnBrk="1">
              <a:defRPr/>
            </a:pPr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  <a:latin typeface="Samsung Sharp Sans Medium" pitchFamily="2" charset="0"/>
                <a:ea typeface="Samsung Sharp Sans Medium" pitchFamily="2" charset="0"/>
                <a:cs typeface="Samsung Sharp Sans Medium" pitchFamily="2" charset="0"/>
              </a:rPr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341595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02">
          <p15:clr>
            <a:srgbClr val="FBAE40"/>
          </p15:clr>
        </p15:guide>
        <p15:guide id="2" pos="285">
          <p15:clr>
            <a:srgbClr val="FBAE40"/>
          </p15:clr>
        </p15:guide>
        <p15:guide id="3" pos="5955">
          <p15:clr>
            <a:srgbClr val="FBAE40"/>
          </p15:clr>
        </p15:guide>
        <p15:guide id="4" pos="329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able of Content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88" y="0"/>
            <a:ext cx="9902825" cy="6858000"/>
          </a:xfrm>
          <a:prstGeom prst="rect">
            <a:avLst/>
          </a:prstGeom>
        </p:spPr>
      </p:pic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107951CE-0A5B-4EC7-B663-290867B6A3B2}"/>
              </a:ext>
            </a:extLst>
          </p:cNvPr>
          <p:cNvCxnSpPr/>
          <p:nvPr userDrawn="1"/>
        </p:nvCxnSpPr>
        <p:spPr>
          <a:xfrm>
            <a:off x="449468" y="6424935"/>
            <a:ext cx="900071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15">
            <a:extLst>
              <a:ext uri="{FF2B5EF4-FFF2-40B4-BE49-F238E27FC236}">
                <a16:creationId xmlns:a16="http://schemas.microsoft.com/office/drawing/2014/main" id="{DB8B1220-1660-457F-B990-656A8230EA54}"/>
              </a:ext>
            </a:extLst>
          </p:cNvPr>
          <p:cNvSpPr txBox="1">
            <a:spLocks/>
          </p:cNvSpPr>
          <p:nvPr userDrawn="1"/>
        </p:nvSpPr>
        <p:spPr>
          <a:xfrm>
            <a:off x="8836343" y="6498001"/>
            <a:ext cx="613839" cy="138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defPPr>
              <a:defRPr lang="ko-KR"/>
            </a:defPPr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  <a:latin typeface="SamsungOne 300" panose="020B0303030303020204" pitchFamily="34" charset="0"/>
                <a:ea typeface="SamsungOne 300" panose="020B0303030303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r" defTabSz="91409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977B04-C971-4466-AB79-612C9E649B30}" type="slidenum">
              <a:rPr lang="en-US" altLang="ko-KR" sz="900" smtClean="0">
                <a:solidFill>
                  <a:schemeClr val="bg1">
                    <a:lumMod val="50000"/>
                  </a:schemeClr>
                </a:solidFill>
                <a:latin typeface="SamsungOne 400" panose="020B0503030303020204" pitchFamily="34" charset="0"/>
                <a:ea typeface="SamsungOne 400" panose="020B0503030303020204" pitchFamily="34" charset="0"/>
              </a:rPr>
              <a:pPr marL="0" marR="0" lvl="0" indent="0" algn="r" defTabSz="914094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altLang="ko-KR" sz="900" dirty="0">
              <a:solidFill>
                <a:schemeClr val="bg1">
                  <a:lumMod val="50000"/>
                </a:schemeClr>
              </a:solidFill>
              <a:latin typeface="SamsungOne 400" panose="020B0503030303020204" pitchFamily="34" charset="0"/>
              <a:ea typeface="SamsungOne 400" panose="020B0503030303020204" pitchFamily="34" charset="0"/>
              <a:cs typeface="Arial Unicode MS" panose="020B0604020202020204" pitchFamily="50" charset="-127"/>
            </a:endParaRPr>
          </a:p>
        </p:txBody>
      </p:sp>
      <p:sp>
        <p:nvSpPr>
          <p:cNvPr id="14" name="직사각형 7">
            <a:extLst>
              <a:ext uri="{FF2B5EF4-FFF2-40B4-BE49-F238E27FC236}">
                <a16:creationId xmlns:a16="http://schemas.microsoft.com/office/drawing/2014/main" id="{AA07D337-B9C3-4E5E-811E-AEFBB17ADEF5}"/>
              </a:ext>
            </a:extLst>
          </p:cNvPr>
          <p:cNvSpPr/>
          <p:nvPr userDrawn="1"/>
        </p:nvSpPr>
        <p:spPr>
          <a:xfrm>
            <a:off x="449468" y="6498001"/>
            <a:ext cx="2888788" cy="1692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pPr algn="l"/>
            <a:r>
              <a:rPr lang="en-US" altLang="ko-KR" sz="1100" b="0" dirty="0">
                <a:solidFill>
                  <a:schemeClr val="bg1">
                    <a:lumMod val="50000"/>
                  </a:schemeClr>
                </a:solidFill>
                <a:latin typeface="Samsung Sharp Sans Bold" pitchFamily="2" charset="0"/>
                <a:ea typeface="Samsung Sharp Sans Bold" pitchFamily="2" charset="0"/>
                <a:cs typeface="Samsung Sharp Sans Bold" pitchFamily="2" charset="0"/>
              </a:rPr>
              <a:t>Samsung Innovation Campus</a:t>
            </a:r>
          </a:p>
        </p:txBody>
      </p:sp>
    </p:spTree>
    <p:extLst>
      <p:ext uri="{BB962C8B-B14F-4D97-AF65-F5344CB8AC3E}">
        <p14:creationId xmlns:p14="http://schemas.microsoft.com/office/powerpoint/2010/main" val="1779621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14">
          <p15:clr>
            <a:srgbClr val="FBAE40"/>
          </p15:clr>
        </p15:guide>
        <p15:guide id="2" pos="443">
          <p15:clr>
            <a:srgbClr val="FBAE40"/>
          </p15:clr>
        </p15:guide>
        <p15:guide id="3" pos="5955">
          <p15:clr>
            <a:srgbClr val="FBAE40"/>
          </p15:clr>
        </p15:guide>
        <p15:guide id="4" pos="60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2825" cy="6858000"/>
          </a:xfrm>
          <a:prstGeom prst="rect">
            <a:avLst/>
          </a:prstGeom>
        </p:spPr>
      </p:pic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107951CE-0A5B-4EC7-B663-290867B6A3B2}"/>
              </a:ext>
            </a:extLst>
          </p:cNvPr>
          <p:cNvCxnSpPr/>
          <p:nvPr userDrawn="1"/>
        </p:nvCxnSpPr>
        <p:spPr>
          <a:xfrm>
            <a:off x="449468" y="6424935"/>
            <a:ext cx="900071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15">
            <a:extLst>
              <a:ext uri="{FF2B5EF4-FFF2-40B4-BE49-F238E27FC236}">
                <a16:creationId xmlns:a16="http://schemas.microsoft.com/office/drawing/2014/main" id="{DB8B1220-1660-457F-B990-656A8230EA54}"/>
              </a:ext>
            </a:extLst>
          </p:cNvPr>
          <p:cNvSpPr txBox="1">
            <a:spLocks/>
          </p:cNvSpPr>
          <p:nvPr userDrawn="1"/>
        </p:nvSpPr>
        <p:spPr>
          <a:xfrm>
            <a:off x="8836343" y="6498001"/>
            <a:ext cx="613839" cy="138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defPPr>
              <a:defRPr lang="ko-KR"/>
            </a:defPPr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  <a:latin typeface="SamsungOne 300" panose="020B0303030303020204" pitchFamily="34" charset="0"/>
                <a:ea typeface="SamsungOne 300" panose="020B0303030303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r" defTabSz="91409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977B04-C971-4466-AB79-612C9E649B30}" type="slidenum">
              <a:rPr lang="en-US" altLang="ko-KR" sz="900" smtClean="0">
                <a:solidFill>
                  <a:schemeClr val="bg1">
                    <a:lumMod val="50000"/>
                  </a:schemeClr>
                </a:solidFill>
                <a:latin typeface="SamsungOne 400" panose="020B0503030303020204" pitchFamily="34" charset="0"/>
                <a:ea typeface="SamsungOne 400" panose="020B0503030303020204" pitchFamily="34" charset="0"/>
              </a:rPr>
              <a:pPr marL="0" marR="0" lvl="0" indent="0" algn="r" defTabSz="914094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altLang="ko-KR" sz="900" dirty="0">
              <a:solidFill>
                <a:schemeClr val="bg1">
                  <a:lumMod val="50000"/>
                </a:schemeClr>
              </a:solidFill>
              <a:latin typeface="SamsungOne 400" panose="020B0503030303020204" pitchFamily="34" charset="0"/>
              <a:ea typeface="SamsungOne 400" panose="020B0503030303020204" pitchFamily="34" charset="0"/>
              <a:cs typeface="Arial Unicode MS" panose="020B0604020202020204" pitchFamily="50" charset="-127"/>
            </a:endParaRPr>
          </a:p>
        </p:txBody>
      </p:sp>
      <p:sp>
        <p:nvSpPr>
          <p:cNvPr id="14" name="직사각형 7">
            <a:extLst>
              <a:ext uri="{FF2B5EF4-FFF2-40B4-BE49-F238E27FC236}">
                <a16:creationId xmlns:a16="http://schemas.microsoft.com/office/drawing/2014/main" id="{AA07D337-B9C3-4E5E-811E-AEFBB17ADEF5}"/>
              </a:ext>
            </a:extLst>
          </p:cNvPr>
          <p:cNvSpPr/>
          <p:nvPr userDrawn="1"/>
        </p:nvSpPr>
        <p:spPr>
          <a:xfrm>
            <a:off x="449468" y="6498001"/>
            <a:ext cx="2888788" cy="1692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pPr algn="l"/>
            <a:r>
              <a:rPr lang="en-US" altLang="ko-KR" sz="1100" b="0" dirty="0">
                <a:solidFill>
                  <a:schemeClr val="bg1">
                    <a:lumMod val="50000"/>
                  </a:schemeClr>
                </a:solidFill>
                <a:latin typeface="Samsung Sharp Sans Bold" pitchFamily="2" charset="0"/>
                <a:ea typeface="Samsung Sharp Sans Bold" pitchFamily="2" charset="0"/>
                <a:cs typeface="Samsung Sharp Sans Bold" pitchFamily="2" charset="0"/>
              </a:rPr>
              <a:t>Samsung Innovation Campus</a:t>
            </a:r>
          </a:p>
        </p:txBody>
      </p:sp>
      <p:sp>
        <p:nvSpPr>
          <p:cNvPr id="7" name="슬라이드 번호 개체 틀 15">
            <a:extLst>
              <a:ext uri="{FF2B5EF4-FFF2-40B4-BE49-F238E27FC236}">
                <a16:creationId xmlns:a16="http://schemas.microsoft.com/office/drawing/2014/main" id="{E75758B0-2429-4331-898E-5EEED60D4280}"/>
              </a:ext>
            </a:extLst>
          </p:cNvPr>
          <p:cNvSpPr txBox="1">
            <a:spLocks/>
          </p:cNvSpPr>
          <p:nvPr userDrawn="1"/>
        </p:nvSpPr>
        <p:spPr>
          <a:xfrm>
            <a:off x="6846858" y="6498001"/>
            <a:ext cx="2349501" cy="138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defPPr>
              <a:defRPr lang="ko-KR"/>
            </a:defPPr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  <a:latin typeface="SamsungOne 300" panose="020B0303030303020204" pitchFamily="34" charset="0"/>
                <a:ea typeface="SamsungOne 300" panose="020B0303030303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0" defTabSz="914094" latinLnBrk="1">
              <a:defRPr/>
            </a:pPr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  <a:latin typeface="Samsung Sharp Sans Medium" pitchFamily="2" charset="0"/>
                <a:ea typeface="Samsung Sharp Sans Medium" pitchFamily="2" charset="0"/>
                <a:cs typeface="Samsung Sharp Sans Medium" pitchFamily="2" charset="0"/>
              </a:rPr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39425025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955">
          <p15:clr>
            <a:srgbClr val="FBAE40"/>
          </p15:clr>
        </p15:guide>
        <p15:guide id="3" pos="285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07951CE-0A5B-4EC7-B663-290867B6A3B2}"/>
              </a:ext>
            </a:extLst>
          </p:cNvPr>
          <p:cNvCxnSpPr/>
          <p:nvPr userDrawn="1"/>
        </p:nvCxnSpPr>
        <p:spPr>
          <a:xfrm>
            <a:off x="449468" y="6424935"/>
            <a:ext cx="900071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슬라이드 번호 개체 틀 15">
            <a:extLst>
              <a:ext uri="{FF2B5EF4-FFF2-40B4-BE49-F238E27FC236}">
                <a16:creationId xmlns:a16="http://schemas.microsoft.com/office/drawing/2014/main" id="{DB8B1220-1660-457F-B990-656A8230EA54}"/>
              </a:ext>
            </a:extLst>
          </p:cNvPr>
          <p:cNvSpPr txBox="1">
            <a:spLocks/>
          </p:cNvSpPr>
          <p:nvPr userDrawn="1"/>
        </p:nvSpPr>
        <p:spPr>
          <a:xfrm>
            <a:off x="8836343" y="6498001"/>
            <a:ext cx="613839" cy="138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defPPr>
              <a:defRPr lang="ko-KR"/>
            </a:defPPr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  <a:latin typeface="SamsungOne 300" panose="020B0303030303020204" pitchFamily="34" charset="0"/>
                <a:ea typeface="SamsungOne 300" panose="020B0303030303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r" defTabSz="91409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977B04-C971-4466-AB79-612C9E649B30}" type="slidenum">
              <a:rPr lang="en-US" altLang="ko-KR" sz="900" smtClean="0">
                <a:solidFill>
                  <a:schemeClr val="bg1">
                    <a:lumMod val="50000"/>
                  </a:schemeClr>
                </a:solidFill>
                <a:latin typeface="SamsungOne 400" panose="020B0503030303020204" pitchFamily="34" charset="0"/>
                <a:ea typeface="SamsungOne 400" panose="020B0503030303020204" pitchFamily="34" charset="0"/>
              </a:rPr>
              <a:pPr marL="0" marR="0" lvl="0" indent="0" algn="r" defTabSz="914094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altLang="ko-KR" sz="900" dirty="0">
              <a:solidFill>
                <a:schemeClr val="bg1">
                  <a:lumMod val="50000"/>
                </a:schemeClr>
              </a:solidFill>
              <a:latin typeface="SamsungOne 400" panose="020B0503030303020204" pitchFamily="34" charset="0"/>
              <a:ea typeface="SamsungOne 400" panose="020B0503030303020204" pitchFamily="34" charset="0"/>
              <a:cs typeface="Arial Unicode MS" panose="020B0604020202020204" pitchFamily="50" charset="-127"/>
            </a:endParaRPr>
          </a:p>
        </p:txBody>
      </p:sp>
      <p:sp>
        <p:nvSpPr>
          <p:cNvPr id="18" name="직사각형 7">
            <a:extLst>
              <a:ext uri="{FF2B5EF4-FFF2-40B4-BE49-F238E27FC236}">
                <a16:creationId xmlns:a16="http://schemas.microsoft.com/office/drawing/2014/main" id="{AA07D337-B9C3-4E5E-811E-AEFBB17ADEF5}"/>
              </a:ext>
            </a:extLst>
          </p:cNvPr>
          <p:cNvSpPr/>
          <p:nvPr userDrawn="1"/>
        </p:nvSpPr>
        <p:spPr>
          <a:xfrm>
            <a:off x="449468" y="6498001"/>
            <a:ext cx="2888788" cy="1692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pPr algn="l"/>
            <a:r>
              <a:rPr lang="en-US" altLang="ko-KR" sz="1100" b="0" dirty="0">
                <a:solidFill>
                  <a:schemeClr val="bg1">
                    <a:lumMod val="50000"/>
                  </a:schemeClr>
                </a:solidFill>
                <a:latin typeface="Samsung Sharp Sans Bold" pitchFamily="2" charset="0"/>
                <a:ea typeface="Samsung Sharp Sans Bold" pitchFamily="2" charset="0"/>
                <a:cs typeface="Samsung Sharp Sans Bold" pitchFamily="2" charset="0"/>
              </a:rPr>
              <a:t>Samsung Innovation Campus</a:t>
            </a: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449468" y="900000"/>
            <a:ext cx="9000714" cy="0"/>
          </a:xfrm>
          <a:prstGeom prst="line">
            <a:avLst/>
          </a:prstGeom>
          <a:ln w="15875">
            <a:solidFill>
              <a:srgbClr val="0924A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5">
            <a:extLst>
              <a:ext uri="{FF2B5EF4-FFF2-40B4-BE49-F238E27FC236}">
                <a16:creationId xmlns:a16="http://schemas.microsoft.com/office/drawing/2014/main" id="{C5960DC7-D671-485D-92B0-FEED6CE658A3}"/>
              </a:ext>
            </a:extLst>
          </p:cNvPr>
          <p:cNvSpPr txBox="1">
            <a:spLocks/>
          </p:cNvSpPr>
          <p:nvPr userDrawn="1"/>
        </p:nvSpPr>
        <p:spPr>
          <a:xfrm>
            <a:off x="6846858" y="6498001"/>
            <a:ext cx="2349501" cy="138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defPPr>
              <a:defRPr lang="ko-KR"/>
            </a:defPPr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  <a:latin typeface="SamsungOne 300" panose="020B0303030303020204" pitchFamily="34" charset="0"/>
                <a:ea typeface="SamsungOne 300" panose="020B0303030303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0" defTabSz="914094" latinLnBrk="1">
              <a:defRPr/>
            </a:pPr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  <a:latin typeface="Samsung Sharp Sans Medium" pitchFamily="2" charset="0"/>
                <a:ea typeface="Samsung Sharp Sans Medium" pitchFamily="2" charset="0"/>
                <a:cs typeface="Samsung Sharp Sans Medium" pitchFamily="2" charset="0"/>
              </a:rPr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3439506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5">
          <p15:clr>
            <a:srgbClr val="FBAE40"/>
          </p15:clr>
        </p15:guide>
        <p15:guide id="3" pos="5955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2">
            <a:extLst>
              <a:ext uri="{FF2B5EF4-FFF2-40B4-BE49-F238E27FC236}">
                <a16:creationId xmlns:a16="http://schemas.microsoft.com/office/drawing/2014/main" id="{C441AFAB-5BBF-465C-B7A8-FED86E6261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395"/>
            <a:ext cx="9899651" cy="6853605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2" y="0"/>
            <a:ext cx="9899651" cy="6858000"/>
          </a:xfrm>
          <a:prstGeom prst="rect">
            <a:avLst/>
          </a:prstGeom>
          <a:solidFill>
            <a:srgbClr val="1428A0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959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82B242C-8600-47F0-98D5-6EA512C41BF2}"/>
              </a:ext>
            </a:extLst>
          </p:cNvPr>
          <p:cNvSpPr/>
          <p:nvPr userDrawn="1"/>
        </p:nvSpPr>
        <p:spPr>
          <a:xfrm>
            <a:off x="449468" y="5677032"/>
            <a:ext cx="9000714" cy="73096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pPr marL="0" marR="0" lvl="0" indent="0" algn="l" defTabSz="914126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amsungOne 400C" panose="020B0506030303020204" pitchFamily="34" charset="0"/>
                <a:ea typeface="SamsungOne 400" panose="020B0503030303020204" pitchFamily="34" charset="0"/>
                <a:cs typeface="+mn-cs"/>
              </a:rPr>
              <a:t>ⓒ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amsungOne 400C" panose="020B0506030303020204" pitchFamily="34" charset="0"/>
                <a:ea typeface="SamsungOne 400C" panose="020B0506030303020204" pitchFamily="34" charset="0"/>
                <a:cs typeface="+mn-cs"/>
              </a:rPr>
              <a:t>2025 </a:t>
            </a: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amsungOne 400C" panose="020B0506030303020204" pitchFamily="34" charset="0"/>
                <a:ea typeface="SamsungOne 400C" panose="020B0506030303020204" pitchFamily="34" charset="0"/>
                <a:cs typeface="+mn-cs"/>
              </a:rPr>
              <a:t>SAMSUNG. All rights reserved.</a:t>
            </a:r>
          </a:p>
          <a:p>
            <a:pPr marL="0" marR="0" lvl="0" indent="0" algn="l" defTabSz="914126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amsungOne 400C" panose="020B0506030303020204" pitchFamily="34" charset="0"/>
                <a:ea typeface="SamsungOne 400C" panose="020B0506030303020204" pitchFamily="34" charset="0"/>
                <a:cs typeface="+mn-cs"/>
              </a:rPr>
              <a:t>Samsung Electronics Corporate Citizenship Office holds the copyright of book.</a:t>
            </a:r>
          </a:p>
          <a:p>
            <a:pPr marL="0" marR="0" lvl="0" indent="0" algn="l" defTabSz="914126" rtl="0" eaLnBrk="1" fontAlgn="auto" latinLnBrk="1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amsungOne 400C" panose="020B0506030303020204" pitchFamily="34" charset="0"/>
                <a:ea typeface="SamsungOne 400C" panose="020B0506030303020204" pitchFamily="34" charset="0"/>
                <a:cs typeface="+mn-cs"/>
              </a:rPr>
              <a:t>This book is a literary property protected by copyright law so reprint and reproduction without permission are prohibited. </a:t>
            </a:r>
          </a:p>
          <a:p>
            <a:pPr marL="0" marR="0" lvl="0" indent="0" algn="l" defTabSz="914126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amsungOne 400C" panose="020B0506030303020204" pitchFamily="34" charset="0"/>
                <a:ea typeface="SamsungOne 400C" panose="020B0506030303020204" pitchFamily="34" charset="0"/>
                <a:cs typeface="+mn-cs"/>
              </a:rPr>
              <a:t>To use this book other than the curriculum of Samsung Innovation Campus or to use the entire or part of this book, you must receive written consent from copyright holder.</a:t>
            </a:r>
          </a:p>
        </p:txBody>
      </p:sp>
      <p:pic>
        <p:nvPicPr>
          <p:cNvPr id="10" name="그림 3">
            <a:extLst>
              <a:ext uri="{FF2B5EF4-FFF2-40B4-BE49-F238E27FC236}">
                <a16:creationId xmlns:a16="http://schemas.microsoft.com/office/drawing/2014/main" id="{A977D3D7-ABF1-4BDD-B1E5-CCA79CC8184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1822" y="3022951"/>
            <a:ext cx="2476006" cy="812098"/>
          </a:xfrm>
          <a:prstGeom prst="rect">
            <a:avLst/>
          </a:prstGeom>
        </p:spPr>
      </p:pic>
      <p:sp>
        <p:nvSpPr>
          <p:cNvPr id="9" name="Freeform 5">
            <a:extLst>
              <a:ext uri="{FF2B5EF4-FFF2-40B4-BE49-F238E27FC236}">
                <a16:creationId xmlns:a16="http://schemas.microsoft.com/office/drawing/2014/main" id="{0D8AEED9-5E8F-4A4F-8427-AE314BEC60F8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449468" y="450000"/>
            <a:ext cx="1290568" cy="198000"/>
          </a:xfrm>
          <a:custGeom>
            <a:avLst/>
            <a:gdLst>
              <a:gd name="T0" fmla="*/ 82 w 2179"/>
              <a:gd name="T1" fmla="*/ 74 h 334"/>
              <a:gd name="T2" fmla="*/ 140 w 2179"/>
              <a:gd name="T3" fmla="*/ 82 h 334"/>
              <a:gd name="T4" fmla="*/ 218 w 2179"/>
              <a:gd name="T5" fmla="*/ 101 h 334"/>
              <a:gd name="T6" fmla="*/ 112 w 2179"/>
              <a:gd name="T7" fmla="*/ 0 h 334"/>
              <a:gd name="T8" fmla="*/ 4 w 2179"/>
              <a:gd name="T9" fmla="*/ 112 h 334"/>
              <a:gd name="T10" fmla="*/ 145 w 2179"/>
              <a:gd name="T11" fmla="*/ 257 h 334"/>
              <a:gd name="T12" fmla="*/ 84 w 2179"/>
              <a:gd name="T13" fmla="*/ 250 h 334"/>
              <a:gd name="T14" fmla="*/ 0 w 2179"/>
              <a:gd name="T15" fmla="*/ 220 h 334"/>
              <a:gd name="T16" fmla="*/ 113 w 2179"/>
              <a:gd name="T17" fmla="*/ 334 h 334"/>
              <a:gd name="T18" fmla="*/ 223 w 2179"/>
              <a:gd name="T19" fmla="*/ 212 h 334"/>
              <a:gd name="T20" fmla="*/ 1096 w 2179"/>
              <a:gd name="T21" fmla="*/ 91 h 334"/>
              <a:gd name="T22" fmla="*/ 1124 w 2179"/>
              <a:gd name="T23" fmla="*/ 54 h 334"/>
              <a:gd name="T24" fmla="*/ 1152 w 2179"/>
              <a:gd name="T25" fmla="*/ 102 h 334"/>
              <a:gd name="T26" fmla="*/ 1229 w 2179"/>
              <a:gd name="T27" fmla="*/ 80 h 334"/>
              <a:gd name="T28" fmla="*/ 1017 w 2179"/>
              <a:gd name="T29" fmla="*/ 71 h 334"/>
              <a:gd name="T30" fmla="*/ 1157 w 2179"/>
              <a:gd name="T31" fmla="*/ 233 h 334"/>
              <a:gd name="T32" fmla="*/ 1128 w 2179"/>
              <a:gd name="T33" fmla="*/ 277 h 334"/>
              <a:gd name="T34" fmla="*/ 1097 w 2179"/>
              <a:gd name="T35" fmla="*/ 219 h 334"/>
              <a:gd name="T36" fmla="*/ 1014 w 2179"/>
              <a:gd name="T37" fmla="*/ 243 h 334"/>
              <a:gd name="T38" fmla="*/ 1235 w 2179"/>
              <a:gd name="T39" fmla="*/ 262 h 334"/>
              <a:gd name="T40" fmla="*/ 1096 w 2179"/>
              <a:gd name="T41" fmla="*/ 91 h 334"/>
              <a:gd name="T42" fmla="*/ 1730 w 2179"/>
              <a:gd name="T43" fmla="*/ 10 h 334"/>
              <a:gd name="T44" fmla="*/ 1614 w 2179"/>
              <a:gd name="T45" fmla="*/ 319 h 334"/>
              <a:gd name="T46" fmla="*/ 1686 w 2179"/>
              <a:gd name="T47" fmla="*/ 60 h 334"/>
              <a:gd name="T48" fmla="*/ 1876 w 2179"/>
              <a:gd name="T49" fmla="*/ 319 h 334"/>
              <a:gd name="T50" fmla="*/ 1799 w 2179"/>
              <a:gd name="T51" fmla="*/ 10 h 334"/>
              <a:gd name="T52" fmla="*/ 333 w 2179"/>
              <a:gd name="T53" fmla="*/ 10 h 334"/>
              <a:gd name="T54" fmla="*/ 360 w 2179"/>
              <a:gd name="T55" fmla="*/ 322 h 334"/>
              <a:gd name="T56" fmla="*/ 446 w 2179"/>
              <a:gd name="T57" fmla="*/ 322 h 334"/>
              <a:gd name="T58" fmla="*/ 472 w 2179"/>
              <a:gd name="T59" fmla="*/ 10 h 334"/>
              <a:gd name="T60" fmla="*/ 804 w 2179"/>
              <a:gd name="T61" fmla="*/ 10 h 334"/>
              <a:gd name="T62" fmla="*/ 725 w 2179"/>
              <a:gd name="T63" fmla="*/ 10 h 334"/>
              <a:gd name="T64" fmla="*/ 592 w 2179"/>
              <a:gd name="T65" fmla="*/ 322 h 334"/>
              <a:gd name="T66" fmla="*/ 671 w 2179"/>
              <a:gd name="T67" fmla="*/ 33 h 334"/>
              <a:gd name="T68" fmla="*/ 804 w 2179"/>
              <a:gd name="T69" fmla="*/ 322 h 334"/>
              <a:gd name="T70" fmla="*/ 860 w 2179"/>
              <a:gd name="T71" fmla="*/ 322 h 334"/>
              <a:gd name="T72" fmla="*/ 931 w 2179"/>
              <a:gd name="T73" fmla="*/ 10 h 334"/>
              <a:gd name="T74" fmla="*/ 1528 w 2179"/>
              <a:gd name="T75" fmla="*/ 10 h 334"/>
              <a:gd name="T76" fmla="*/ 1449 w 2179"/>
              <a:gd name="T77" fmla="*/ 241 h 334"/>
              <a:gd name="T78" fmla="*/ 1418 w 2179"/>
              <a:gd name="T79" fmla="*/ 275 h 334"/>
              <a:gd name="T80" fmla="*/ 1388 w 2179"/>
              <a:gd name="T81" fmla="*/ 241 h 334"/>
              <a:gd name="T82" fmla="*/ 1309 w 2179"/>
              <a:gd name="T83" fmla="*/ 10 h 334"/>
              <a:gd name="T84" fmla="*/ 1310 w 2179"/>
              <a:gd name="T85" fmla="*/ 254 h 334"/>
              <a:gd name="T86" fmla="*/ 1527 w 2179"/>
              <a:gd name="T87" fmla="*/ 254 h 334"/>
              <a:gd name="T88" fmla="*/ 1528 w 2179"/>
              <a:gd name="T89" fmla="*/ 10 h 334"/>
              <a:gd name="T90" fmla="*/ 2069 w 2179"/>
              <a:gd name="T91" fmla="*/ 192 h 334"/>
              <a:gd name="T92" fmla="*/ 2101 w 2179"/>
              <a:gd name="T93" fmla="*/ 237 h 334"/>
              <a:gd name="T94" fmla="*/ 2068 w 2179"/>
              <a:gd name="T95" fmla="*/ 272 h 334"/>
              <a:gd name="T96" fmla="*/ 2035 w 2179"/>
              <a:gd name="T97" fmla="*/ 237 h 334"/>
              <a:gd name="T98" fmla="*/ 2037 w 2179"/>
              <a:gd name="T99" fmla="*/ 80 h 334"/>
              <a:gd name="T100" fmla="*/ 2099 w 2179"/>
              <a:gd name="T101" fmla="*/ 80 h 334"/>
              <a:gd name="T102" fmla="*/ 2100 w 2179"/>
              <a:gd name="T103" fmla="*/ 110 h 334"/>
              <a:gd name="T104" fmla="*/ 2178 w 2179"/>
              <a:gd name="T105" fmla="*/ 99 h 334"/>
              <a:gd name="T106" fmla="*/ 2068 w 2179"/>
              <a:gd name="T107" fmla="*/ 2 h 334"/>
              <a:gd name="T108" fmla="*/ 1958 w 2179"/>
              <a:gd name="T109" fmla="*/ 99 h 334"/>
              <a:gd name="T110" fmla="*/ 1959 w 2179"/>
              <a:gd name="T111" fmla="*/ 251 h 334"/>
              <a:gd name="T112" fmla="*/ 2178 w 2179"/>
              <a:gd name="T113" fmla="*/ 251 h 334"/>
              <a:gd name="T114" fmla="*/ 2179 w 2179"/>
              <a:gd name="T115" fmla="*/ 147 h 3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2179" h="334">
                <a:moveTo>
                  <a:pt x="83" y="91"/>
                </a:moveTo>
                <a:cubicBezTo>
                  <a:pt x="81" y="84"/>
                  <a:pt x="82" y="78"/>
                  <a:pt x="82" y="74"/>
                </a:cubicBezTo>
                <a:cubicBezTo>
                  <a:pt x="84" y="64"/>
                  <a:pt x="91" y="53"/>
                  <a:pt x="111" y="53"/>
                </a:cubicBezTo>
                <a:cubicBezTo>
                  <a:pt x="129" y="53"/>
                  <a:pt x="140" y="65"/>
                  <a:pt x="140" y="82"/>
                </a:cubicBezTo>
                <a:cubicBezTo>
                  <a:pt x="140" y="101"/>
                  <a:pt x="140" y="101"/>
                  <a:pt x="140" y="101"/>
                </a:cubicBezTo>
                <a:cubicBezTo>
                  <a:pt x="218" y="101"/>
                  <a:pt x="218" y="101"/>
                  <a:pt x="218" y="101"/>
                </a:cubicBezTo>
                <a:cubicBezTo>
                  <a:pt x="218" y="79"/>
                  <a:pt x="218" y="79"/>
                  <a:pt x="218" y="79"/>
                </a:cubicBezTo>
                <a:cubicBezTo>
                  <a:pt x="218" y="11"/>
                  <a:pt x="156" y="0"/>
                  <a:pt x="112" y="0"/>
                </a:cubicBezTo>
                <a:cubicBezTo>
                  <a:pt x="57" y="0"/>
                  <a:pt x="12" y="19"/>
                  <a:pt x="4" y="70"/>
                </a:cubicBezTo>
                <a:cubicBezTo>
                  <a:pt x="1" y="84"/>
                  <a:pt x="1" y="96"/>
                  <a:pt x="4" y="112"/>
                </a:cubicBezTo>
                <a:cubicBezTo>
                  <a:pt x="18" y="175"/>
                  <a:pt x="128" y="194"/>
                  <a:pt x="145" y="234"/>
                </a:cubicBezTo>
                <a:cubicBezTo>
                  <a:pt x="148" y="241"/>
                  <a:pt x="147" y="251"/>
                  <a:pt x="145" y="257"/>
                </a:cubicBezTo>
                <a:cubicBezTo>
                  <a:pt x="143" y="267"/>
                  <a:pt x="136" y="278"/>
                  <a:pt x="115" y="278"/>
                </a:cubicBezTo>
                <a:cubicBezTo>
                  <a:pt x="95" y="278"/>
                  <a:pt x="84" y="267"/>
                  <a:pt x="84" y="250"/>
                </a:cubicBezTo>
                <a:cubicBezTo>
                  <a:pt x="83" y="220"/>
                  <a:pt x="83" y="220"/>
                  <a:pt x="83" y="220"/>
                </a:cubicBezTo>
                <a:cubicBezTo>
                  <a:pt x="0" y="220"/>
                  <a:pt x="0" y="220"/>
                  <a:pt x="0" y="220"/>
                </a:cubicBezTo>
                <a:cubicBezTo>
                  <a:pt x="0" y="244"/>
                  <a:pt x="0" y="244"/>
                  <a:pt x="0" y="244"/>
                </a:cubicBezTo>
                <a:cubicBezTo>
                  <a:pt x="0" y="313"/>
                  <a:pt x="55" y="334"/>
                  <a:pt x="113" y="334"/>
                </a:cubicBezTo>
                <a:cubicBezTo>
                  <a:pt x="169" y="334"/>
                  <a:pt x="216" y="315"/>
                  <a:pt x="223" y="263"/>
                </a:cubicBezTo>
                <a:cubicBezTo>
                  <a:pt x="227" y="236"/>
                  <a:pt x="224" y="218"/>
                  <a:pt x="223" y="212"/>
                </a:cubicBezTo>
                <a:cubicBezTo>
                  <a:pt x="210" y="146"/>
                  <a:pt x="92" y="127"/>
                  <a:pt x="83" y="91"/>
                </a:cubicBezTo>
                <a:moveTo>
                  <a:pt x="1096" y="91"/>
                </a:moveTo>
                <a:cubicBezTo>
                  <a:pt x="1094" y="85"/>
                  <a:pt x="1095" y="79"/>
                  <a:pt x="1096" y="75"/>
                </a:cubicBezTo>
                <a:cubicBezTo>
                  <a:pt x="1098" y="65"/>
                  <a:pt x="1104" y="54"/>
                  <a:pt x="1124" y="54"/>
                </a:cubicBezTo>
                <a:cubicBezTo>
                  <a:pt x="1142" y="54"/>
                  <a:pt x="1152" y="66"/>
                  <a:pt x="1152" y="82"/>
                </a:cubicBezTo>
                <a:cubicBezTo>
                  <a:pt x="1152" y="102"/>
                  <a:pt x="1152" y="102"/>
                  <a:pt x="1152" y="102"/>
                </a:cubicBezTo>
                <a:cubicBezTo>
                  <a:pt x="1229" y="102"/>
                  <a:pt x="1229" y="102"/>
                  <a:pt x="1229" y="102"/>
                </a:cubicBezTo>
                <a:cubicBezTo>
                  <a:pt x="1229" y="80"/>
                  <a:pt x="1229" y="80"/>
                  <a:pt x="1229" y="80"/>
                </a:cubicBezTo>
                <a:cubicBezTo>
                  <a:pt x="1229" y="13"/>
                  <a:pt x="1169" y="2"/>
                  <a:pt x="1125" y="2"/>
                </a:cubicBezTo>
                <a:cubicBezTo>
                  <a:pt x="1070" y="2"/>
                  <a:pt x="1026" y="20"/>
                  <a:pt x="1017" y="71"/>
                </a:cubicBezTo>
                <a:cubicBezTo>
                  <a:pt x="1015" y="84"/>
                  <a:pt x="1015" y="97"/>
                  <a:pt x="1018" y="112"/>
                </a:cubicBezTo>
                <a:cubicBezTo>
                  <a:pt x="1032" y="175"/>
                  <a:pt x="1141" y="193"/>
                  <a:pt x="1157" y="233"/>
                </a:cubicBezTo>
                <a:cubicBezTo>
                  <a:pt x="1160" y="241"/>
                  <a:pt x="1159" y="250"/>
                  <a:pt x="1158" y="256"/>
                </a:cubicBezTo>
                <a:cubicBezTo>
                  <a:pt x="1155" y="267"/>
                  <a:pt x="1148" y="277"/>
                  <a:pt x="1128" y="277"/>
                </a:cubicBezTo>
                <a:cubicBezTo>
                  <a:pt x="1108" y="277"/>
                  <a:pt x="1097" y="266"/>
                  <a:pt x="1097" y="249"/>
                </a:cubicBezTo>
                <a:cubicBezTo>
                  <a:pt x="1097" y="219"/>
                  <a:pt x="1097" y="219"/>
                  <a:pt x="1097" y="219"/>
                </a:cubicBezTo>
                <a:cubicBezTo>
                  <a:pt x="1014" y="219"/>
                  <a:pt x="1014" y="219"/>
                  <a:pt x="1014" y="219"/>
                </a:cubicBezTo>
                <a:cubicBezTo>
                  <a:pt x="1014" y="243"/>
                  <a:pt x="1014" y="243"/>
                  <a:pt x="1014" y="243"/>
                </a:cubicBezTo>
                <a:cubicBezTo>
                  <a:pt x="1014" y="312"/>
                  <a:pt x="1068" y="332"/>
                  <a:pt x="1126" y="332"/>
                </a:cubicBezTo>
                <a:cubicBezTo>
                  <a:pt x="1182" y="332"/>
                  <a:pt x="1228" y="313"/>
                  <a:pt x="1235" y="262"/>
                </a:cubicBezTo>
                <a:cubicBezTo>
                  <a:pt x="1238" y="235"/>
                  <a:pt x="1236" y="218"/>
                  <a:pt x="1234" y="211"/>
                </a:cubicBezTo>
                <a:cubicBezTo>
                  <a:pt x="1221" y="147"/>
                  <a:pt x="1105" y="127"/>
                  <a:pt x="1096" y="91"/>
                </a:cubicBezTo>
                <a:moveTo>
                  <a:pt x="1803" y="261"/>
                </a:moveTo>
                <a:cubicBezTo>
                  <a:pt x="1730" y="10"/>
                  <a:pt x="1730" y="10"/>
                  <a:pt x="1730" y="10"/>
                </a:cubicBezTo>
                <a:cubicBezTo>
                  <a:pt x="1614" y="10"/>
                  <a:pt x="1614" y="10"/>
                  <a:pt x="1614" y="10"/>
                </a:cubicBezTo>
                <a:cubicBezTo>
                  <a:pt x="1614" y="319"/>
                  <a:pt x="1614" y="319"/>
                  <a:pt x="1614" y="319"/>
                </a:cubicBezTo>
                <a:cubicBezTo>
                  <a:pt x="1691" y="319"/>
                  <a:pt x="1691" y="319"/>
                  <a:pt x="1691" y="319"/>
                </a:cubicBezTo>
                <a:cubicBezTo>
                  <a:pt x="1686" y="60"/>
                  <a:pt x="1686" y="60"/>
                  <a:pt x="1686" y="60"/>
                </a:cubicBezTo>
                <a:cubicBezTo>
                  <a:pt x="1765" y="319"/>
                  <a:pt x="1765" y="319"/>
                  <a:pt x="1765" y="319"/>
                </a:cubicBezTo>
                <a:cubicBezTo>
                  <a:pt x="1876" y="319"/>
                  <a:pt x="1876" y="319"/>
                  <a:pt x="1876" y="319"/>
                </a:cubicBezTo>
                <a:cubicBezTo>
                  <a:pt x="1876" y="10"/>
                  <a:pt x="1876" y="10"/>
                  <a:pt x="1876" y="10"/>
                </a:cubicBezTo>
                <a:cubicBezTo>
                  <a:pt x="1799" y="10"/>
                  <a:pt x="1799" y="10"/>
                  <a:pt x="1799" y="10"/>
                </a:cubicBezTo>
                <a:lnTo>
                  <a:pt x="1803" y="261"/>
                </a:lnTo>
                <a:close/>
                <a:moveTo>
                  <a:pt x="333" y="10"/>
                </a:moveTo>
                <a:cubicBezTo>
                  <a:pt x="276" y="322"/>
                  <a:pt x="276" y="322"/>
                  <a:pt x="276" y="322"/>
                </a:cubicBezTo>
                <a:cubicBezTo>
                  <a:pt x="360" y="322"/>
                  <a:pt x="360" y="322"/>
                  <a:pt x="360" y="322"/>
                </a:cubicBezTo>
                <a:cubicBezTo>
                  <a:pt x="403" y="33"/>
                  <a:pt x="403" y="33"/>
                  <a:pt x="403" y="33"/>
                </a:cubicBezTo>
                <a:cubicBezTo>
                  <a:pt x="446" y="322"/>
                  <a:pt x="446" y="322"/>
                  <a:pt x="446" y="322"/>
                </a:cubicBezTo>
                <a:cubicBezTo>
                  <a:pt x="529" y="322"/>
                  <a:pt x="529" y="322"/>
                  <a:pt x="529" y="322"/>
                </a:cubicBezTo>
                <a:cubicBezTo>
                  <a:pt x="472" y="10"/>
                  <a:pt x="472" y="10"/>
                  <a:pt x="472" y="10"/>
                </a:cubicBezTo>
                <a:lnTo>
                  <a:pt x="333" y="10"/>
                </a:lnTo>
                <a:close/>
                <a:moveTo>
                  <a:pt x="804" y="10"/>
                </a:moveTo>
                <a:cubicBezTo>
                  <a:pt x="765" y="254"/>
                  <a:pt x="765" y="254"/>
                  <a:pt x="765" y="254"/>
                </a:cubicBezTo>
                <a:cubicBezTo>
                  <a:pt x="725" y="10"/>
                  <a:pt x="725" y="10"/>
                  <a:pt x="725" y="10"/>
                </a:cubicBezTo>
                <a:cubicBezTo>
                  <a:pt x="598" y="10"/>
                  <a:pt x="598" y="10"/>
                  <a:pt x="598" y="10"/>
                </a:cubicBezTo>
                <a:cubicBezTo>
                  <a:pt x="592" y="322"/>
                  <a:pt x="592" y="322"/>
                  <a:pt x="592" y="322"/>
                </a:cubicBezTo>
                <a:cubicBezTo>
                  <a:pt x="669" y="322"/>
                  <a:pt x="669" y="322"/>
                  <a:pt x="669" y="322"/>
                </a:cubicBezTo>
                <a:cubicBezTo>
                  <a:pt x="671" y="33"/>
                  <a:pt x="671" y="33"/>
                  <a:pt x="671" y="33"/>
                </a:cubicBezTo>
                <a:cubicBezTo>
                  <a:pt x="725" y="322"/>
                  <a:pt x="725" y="322"/>
                  <a:pt x="725" y="322"/>
                </a:cubicBezTo>
                <a:cubicBezTo>
                  <a:pt x="804" y="322"/>
                  <a:pt x="804" y="322"/>
                  <a:pt x="804" y="322"/>
                </a:cubicBezTo>
                <a:cubicBezTo>
                  <a:pt x="858" y="33"/>
                  <a:pt x="858" y="33"/>
                  <a:pt x="858" y="33"/>
                </a:cubicBezTo>
                <a:cubicBezTo>
                  <a:pt x="860" y="322"/>
                  <a:pt x="860" y="322"/>
                  <a:pt x="860" y="322"/>
                </a:cubicBezTo>
                <a:cubicBezTo>
                  <a:pt x="938" y="322"/>
                  <a:pt x="938" y="322"/>
                  <a:pt x="938" y="322"/>
                </a:cubicBezTo>
                <a:cubicBezTo>
                  <a:pt x="931" y="10"/>
                  <a:pt x="931" y="10"/>
                  <a:pt x="931" y="10"/>
                </a:cubicBezTo>
                <a:lnTo>
                  <a:pt x="804" y="10"/>
                </a:lnTo>
                <a:close/>
                <a:moveTo>
                  <a:pt x="1528" y="10"/>
                </a:moveTo>
                <a:cubicBezTo>
                  <a:pt x="1449" y="10"/>
                  <a:pt x="1449" y="10"/>
                  <a:pt x="1449" y="10"/>
                </a:cubicBezTo>
                <a:cubicBezTo>
                  <a:pt x="1449" y="241"/>
                  <a:pt x="1449" y="241"/>
                  <a:pt x="1449" y="241"/>
                </a:cubicBezTo>
                <a:cubicBezTo>
                  <a:pt x="1449" y="245"/>
                  <a:pt x="1449" y="249"/>
                  <a:pt x="1448" y="253"/>
                </a:cubicBezTo>
                <a:cubicBezTo>
                  <a:pt x="1447" y="260"/>
                  <a:pt x="1440" y="275"/>
                  <a:pt x="1418" y="275"/>
                </a:cubicBezTo>
                <a:cubicBezTo>
                  <a:pt x="1397" y="275"/>
                  <a:pt x="1390" y="260"/>
                  <a:pt x="1389" y="253"/>
                </a:cubicBezTo>
                <a:cubicBezTo>
                  <a:pt x="1388" y="249"/>
                  <a:pt x="1388" y="245"/>
                  <a:pt x="1388" y="241"/>
                </a:cubicBezTo>
                <a:cubicBezTo>
                  <a:pt x="1388" y="10"/>
                  <a:pt x="1388" y="10"/>
                  <a:pt x="1388" y="10"/>
                </a:cubicBezTo>
                <a:cubicBezTo>
                  <a:pt x="1309" y="10"/>
                  <a:pt x="1309" y="10"/>
                  <a:pt x="1309" y="10"/>
                </a:cubicBezTo>
                <a:cubicBezTo>
                  <a:pt x="1309" y="234"/>
                  <a:pt x="1309" y="234"/>
                  <a:pt x="1309" y="234"/>
                </a:cubicBezTo>
                <a:cubicBezTo>
                  <a:pt x="1309" y="239"/>
                  <a:pt x="1309" y="251"/>
                  <a:pt x="1310" y="254"/>
                </a:cubicBezTo>
                <a:cubicBezTo>
                  <a:pt x="1315" y="312"/>
                  <a:pt x="1361" y="331"/>
                  <a:pt x="1418" y="331"/>
                </a:cubicBezTo>
                <a:cubicBezTo>
                  <a:pt x="1476" y="331"/>
                  <a:pt x="1522" y="312"/>
                  <a:pt x="1527" y="254"/>
                </a:cubicBezTo>
                <a:cubicBezTo>
                  <a:pt x="1528" y="251"/>
                  <a:pt x="1528" y="239"/>
                  <a:pt x="1528" y="234"/>
                </a:cubicBezTo>
                <a:lnTo>
                  <a:pt x="1528" y="10"/>
                </a:lnTo>
                <a:close/>
                <a:moveTo>
                  <a:pt x="2069" y="147"/>
                </a:moveTo>
                <a:cubicBezTo>
                  <a:pt x="2069" y="192"/>
                  <a:pt x="2069" y="192"/>
                  <a:pt x="2069" y="192"/>
                </a:cubicBezTo>
                <a:cubicBezTo>
                  <a:pt x="2101" y="192"/>
                  <a:pt x="2101" y="192"/>
                  <a:pt x="2101" y="192"/>
                </a:cubicBezTo>
                <a:cubicBezTo>
                  <a:pt x="2101" y="237"/>
                  <a:pt x="2101" y="237"/>
                  <a:pt x="2101" y="237"/>
                </a:cubicBezTo>
                <a:cubicBezTo>
                  <a:pt x="2101" y="241"/>
                  <a:pt x="2101" y="246"/>
                  <a:pt x="2100" y="249"/>
                </a:cubicBezTo>
                <a:cubicBezTo>
                  <a:pt x="2099" y="258"/>
                  <a:pt x="2091" y="272"/>
                  <a:pt x="2068" y="272"/>
                </a:cubicBezTo>
                <a:cubicBezTo>
                  <a:pt x="2045" y="272"/>
                  <a:pt x="2038" y="258"/>
                  <a:pt x="2036" y="249"/>
                </a:cubicBezTo>
                <a:cubicBezTo>
                  <a:pt x="2036" y="246"/>
                  <a:pt x="2035" y="241"/>
                  <a:pt x="2035" y="237"/>
                </a:cubicBezTo>
                <a:cubicBezTo>
                  <a:pt x="2035" y="95"/>
                  <a:pt x="2035" y="95"/>
                  <a:pt x="2035" y="95"/>
                </a:cubicBezTo>
                <a:cubicBezTo>
                  <a:pt x="2035" y="90"/>
                  <a:pt x="2036" y="85"/>
                  <a:pt x="2037" y="80"/>
                </a:cubicBezTo>
                <a:cubicBezTo>
                  <a:pt x="2038" y="73"/>
                  <a:pt x="2045" y="58"/>
                  <a:pt x="2068" y="58"/>
                </a:cubicBezTo>
                <a:cubicBezTo>
                  <a:pt x="2092" y="58"/>
                  <a:pt x="2098" y="74"/>
                  <a:pt x="2099" y="80"/>
                </a:cubicBezTo>
                <a:cubicBezTo>
                  <a:pt x="2100" y="85"/>
                  <a:pt x="2100" y="92"/>
                  <a:pt x="2100" y="92"/>
                </a:cubicBezTo>
                <a:cubicBezTo>
                  <a:pt x="2100" y="110"/>
                  <a:pt x="2100" y="110"/>
                  <a:pt x="2100" y="110"/>
                </a:cubicBezTo>
                <a:cubicBezTo>
                  <a:pt x="2178" y="110"/>
                  <a:pt x="2178" y="110"/>
                  <a:pt x="2178" y="110"/>
                </a:cubicBezTo>
                <a:cubicBezTo>
                  <a:pt x="2178" y="99"/>
                  <a:pt x="2178" y="99"/>
                  <a:pt x="2178" y="99"/>
                </a:cubicBezTo>
                <a:cubicBezTo>
                  <a:pt x="2178" y="99"/>
                  <a:pt x="2179" y="89"/>
                  <a:pt x="2178" y="79"/>
                </a:cubicBezTo>
                <a:cubicBezTo>
                  <a:pt x="2172" y="20"/>
                  <a:pt x="2124" y="2"/>
                  <a:pt x="2068" y="2"/>
                </a:cubicBezTo>
                <a:cubicBezTo>
                  <a:pt x="2013" y="2"/>
                  <a:pt x="1966" y="21"/>
                  <a:pt x="1959" y="79"/>
                </a:cubicBezTo>
                <a:cubicBezTo>
                  <a:pt x="1958" y="84"/>
                  <a:pt x="1958" y="94"/>
                  <a:pt x="1958" y="99"/>
                </a:cubicBezTo>
                <a:cubicBezTo>
                  <a:pt x="1958" y="230"/>
                  <a:pt x="1958" y="230"/>
                  <a:pt x="1958" y="230"/>
                </a:cubicBezTo>
                <a:cubicBezTo>
                  <a:pt x="1958" y="236"/>
                  <a:pt x="1958" y="241"/>
                  <a:pt x="1959" y="251"/>
                </a:cubicBezTo>
                <a:cubicBezTo>
                  <a:pt x="1964" y="308"/>
                  <a:pt x="2013" y="328"/>
                  <a:pt x="2068" y="328"/>
                </a:cubicBezTo>
                <a:cubicBezTo>
                  <a:pt x="2124" y="328"/>
                  <a:pt x="2173" y="308"/>
                  <a:pt x="2178" y="251"/>
                </a:cubicBezTo>
                <a:cubicBezTo>
                  <a:pt x="2179" y="241"/>
                  <a:pt x="2179" y="236"/>
                  <a:pt x="2179" y="230"/>
                </a:cubicBezTo>
                <a:cubicBezTo>
                  <a:pt x="2179" y="147"/>
                  <a:pt x="2179" y="147"/>
                  <a:pt x="2179" y="147"/>
                </a:cubicBezTo>
                <a:lnTo>
                  <a:pt x="2069" y="14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11" tIns="45705" rIns="91411" bIns="45705" numCol="1" anchor="t" anchorCtr="0" compatLnSpc="1">
            <a:prstTxWarp prst="textNoShape">
              <a:avLst/>
            </a:prstTxWarp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pPr marL="0" marR="0" lvl="0" indent="0" algn="l" defTabSz="914126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sz="1959" noProof="0" dirty="0"/>
          </a:p>
        </p:txBody>
      </p:sp>
    </p:spTree>
    <p:extLst>
      <p:ext uri="{BB962C8B-B14F-4D97-AF65-F5344CB8AC3E}">
        <p14:creationId xmlns:p14="http://schemas.microsoft.com/office/powerpoint/2010/main" val="122783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od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2825" cy="6858000"/>
          </a:xfrm>
          <a:prstGeom prst="rect">
            <a:avLst/>
          </a:prstGeom>
        </p:spPr>
      </p:pic>
      <p:sp>
        <p:nvSpPr>
          <p:cNvPr id="5" name="Freeform 5">
            <a:extLst>
              <a:ext uri="{FF2B5EF4-FFF2-40B4-BE49-F238E27FC236}">
                <a16:creationId xmlns:a16="http://schemas.microsoft.com/office/drawing/2014/main" id="{0D8AEED9-5E8F-4A4F-8427-AE314BEC60F8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449468" y="450000"/>
            <a:ext cx="1282022" cy="198000"/>
          </a:xfrm>
          <a:custGeom>
            <a:avLst/>
            <a:gdLst>
              <a:gd name="T0" fmla="*/ 82 w 2179"/>
              <a:gd name="T1" fmla="*/ 74 h 334"/>
              <a:gd name="T2" fmla="*/ 140 w 2179"/>
              <a:gd name="T3" fmla="*/ 82 h 334"/>
              <a:gd name="T4" fmla="*/ 218 w 2179"/>
              <a:gd name="T5" fmla="*/ 101 h 334"/>
              <a:gd name="T6" fmla="*/ 112 w 2179"/>
              <a:gd name="T7" fmla="*/ 0 h 334"/>
              <a:gd name="T8" fmla="*/ 4 w 2179"/>
              <a:gd name="T9" fmla="*/ 112 h 334"/>
              <a:gd name="T10" fmla="*/ 145 w 2179"/>
              <a:gd name="T11" fmla="*/ 257 h 334"/>
              <a:gd name="T12" fmla="*/ 84 w 2179"/>
              <a:gd name="T13" fmla="*/ 250 h 334"/>
              <a:gd name="T14" fmla="*/ 0 w 2179"/>
              <a:gd name="T15" fmla="*/ 220 h 334"/>
              <a:gd name="T16" fmla="*/ 113 w 2179"/>
              <a:gd name="T17" fmla="*/ 334 h 334"/>
              <a:gd name="T18" fmla="*/ 223 w 2179"/>
              <a:gd name="T19" fmla="*/ 212 h 334"/>
              <a:gd name="T20" fmla="*/ 1096 w 2179"/>
              <a:gd name="T21" fmla="*/ 91 h 334"/>
              <a:gd name="T22" fmla="*/ 1124 w 2179"/>
              <a:gd name="T23" fmla="*/ 54 h 334"/>
              <a:gd name="T24" fmla="*/ 1152 w 2179"/>
              <a:gd name="T25" fmla="*/ 102 h 334"/>
              <a:gd name="T26" fmla="*/ 1229 w 2179"/>
              <a:gd name="T27" fmla="*/ 80 h 334"/>
              <a:gd name="T28" fmla="*/ 1017 w 2179"/>
              <a:gd name="T29" fmla="*/ 71 h 334"/>
              <a:gd name="T30" fmla="*/ 1157 w 2179"/>
              <a:gd name="T31" fmla="*/ 233 h 334"/>
              <a:gd name="T32" fmla="*/ 1128 w 2179"/>
              <a:gd name="T33" fmla="*/ 277 h 334"/>
              <a:gd name="T34" fmla="*/ 1097 w 2179"/>
              <a:gd name="T35" fmla="*/ 219 h 334"/>
              <a:gd name="T36" fmla="*/ 1014 w 2179"/>
              <a:gd name="T37" fmla="*/ 243 h 334"/>
              <a:gd name="T38" fmla="*/ 1235 w 2179"/>
              <a:gd name="T39" fmla="*/ 262 h 334"/>
              <a:gd name="T40" fmla="*/ 1096 w 2179"/>
              <a:gd name="T41" fmla="*/ 91 h 334"/>
              <a:gd name="T42" fmla="*/ 1730 w 2179"/>
              <a:gd name="T43" fmla="*/ 10 h 334"/>
              <a:gd name="T44" fmla="*/ 1614 w 2179"/>
              <a:gd name="T45" fmla="*/ 319 h 334"/>
              <a:gd name="T46" fmla="*/ 1686 w 2179"/>
              <a:gd name="T47" fmla="*/ 60 h 334"/>
              <a:gd name="T48" fmla="*/ 1876 w 2179"/>
              <a:gd name="T49" fmla="*/ 319 h 334"/>
              <a:gd name="T50" fmla="*/ 1799 w 2179"/>
              <a:gd name="T51" fmla="*/ 10 h 334"/>
              <a:gd name="T52" fmla="*/ 333 w 2179"/>
              <a:gd name="T53" fmla="*/ 10 h 334"/>
              <a:gd name="T54" fmla="*/ 360 w 2179"/>
              <a:gd name="T55" fmla="*/ 322 h 334"/>
              <a:gd name="T56" fmla="*/ 446 w 2179"/>
              <a:gd name="T57" fmla="*/ 322 h 334"/>
              <a:gd name="T58" fmla="*/ 472 w 2179"/>
              <a:gd name="T59" fmla="*/ 10 h 334"/>
              <a:gd name="T60" fmla="*/ 804 w 2179"/>
              <a:gd name="T61" fmla="*/ 10 h 334"/>
              <a:gd name="T62" fmla="*/ 725 w 2179"/>
              <a:gd name="T63" fmla="*/ 10 h 334"/>
              <a:gd name="T64" fmla="*/ 592 w 2179"/>
              <a:gd name="T65" fmla="*/ 322 h 334"/>
              <a:gd name="T66" fmla="*/ 671 w 2179"/>
              <a:gd name="T67" fmla="*/ 33 h 334"/>
              <a:gd name="T68" fmla="*/ 804 w 2179"/>
              <a:gd name="T69" fmla="*/ 322 h 334"/>
              <a:gd name="T70" fmla="*/ 860 w 2179"/>
              <a:gd name="T71" fmla="*/ 322 h 334"/>
              <a:gd name="T72" fmla="*/ 931 w 2179"/>
              <a:gd name="T73" fmla="*/ 10 h 334"/>
              <a:gd name="T74" fmla="*/ 1528 w 2179"/>
              <a:gd name="T75" fmla="*/ 10 h 334"/>
              <a:gd name="T76" fmla="*/ 1449 w 2179"/>
              <a:gd name="T77" fmla="*/ 241 h 334"/>
              <a:gd name="T78" fmla="*/ 1418 w 2179"/>
              <a:gd name="T79" fmla="*/ 275 h 334"/>
              <a:gd name="T80" fmla="*/ 1388 w 2179"/>
              <a:gd name="T81" fmla="*/ 241 h 334"/>
              <a:gd name="T82" fmla="*/ 1309 w 2179"/>
              <a:gd name="T83" fmla="*/ 10 h 334"/>
              <a:gd name="T84" fmla="*/ 1310 w 2179"/>
              <a:gd name="T85" fmla="*/ 254 h 334"/>
              <a:gd name="T86" fmla="*/ 1527 w 2179"/>
              <a:gd name="T87" fmla="*/ 254 h 334"/>
              <a:gd name="T88" fmla="*/ 1528 w 2179"/>
              <a:gd name="T89" fmla="*/ 10 h 334"/>
              <a:gd name="T90" fmla="*/ 2069 w 2179"/>
              <a:gd name="T91" fmla="*/ 192 h 334"/>
              <a:gd name="T92" fmla="*/ 2101 w 2179"/>
              <a:gd name="T93" fmla="*/ 237 h 334"/>
              <a:gd name="T94" fmla="*/ 2068 w 2179"/>
              <a:gd name="T95" fmla="*/ 272 h 334"/>
              <a:gd name="T96" fmla="*/ 2035 w 2179"/>
              <a:gd name="T97" fmla="*/ 237 h 334"/>
              <a:gd name="T98" fmla="*/ 2037 w 2179"/>
              <a:gd name="T99" fmla="*/ 80 h 334"/>
              <a:gd name="T100" fmla="*/ 2099 w 2179"/>
              <a:gd name="T101" fmla="*/ 80 h 334"/>
              <a:gd name="T102" fmla="*/ 2100 w 2179"/>
              <a:gd name="T103" fmla="*/ 110 h 334"/>
              <a:gd name="T104" fmla="*/ 2178 w 2179"/>
              <a:gd name="T105" fmla="*/ 99 h 334"/>
              <a:gd name="T106" fmla="*/ 2068 w 2179"/>
              <a:gd name="T107" fmla="*/ 2 h 334"/>
              <a:gd name="T108" fmla="*/ 1958 w 2179"/>
              <a:gd name="T109" fmla="*/ 99 h 334"/>
              <a:gd name="T110" fmla="*/ 1959 w 2179"/>
              <a:gd name="T111" fmla="*/ 251 h 334"/>
              <a:gd name="T112" fmla="*/ 2178 w 2179"/>
              <a:gd name="T113" fmla="*/ 251 h 334"/>
              <a:gd name="T114" fmla="*/ 2179 w 2179"/>
              <a:gd name="T115" fmla="*/ 147 h 3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2179" h="334">
                <a:moveTo>
                  <a:pt x="83" y="91"/>
                </a:moveTo>
                <a:cubicBezTo>
                  <a:pt x="81" y="84"/>
                  <a:pt x="82" y="78"/>
                  <a:pt x="82" y="74"/>
                </a:cubicBezTo>
                <a:cubicBezTo>
                  <a:pt x="84" y="64"/>
                  <a:pt x="91" y="53"/>
                  <a:pt x="111" y="53"/>
                </a:cubicBezTo>
                <a:cubicBezTo>
                  <a:pt x="129" y="53"/>
                  <a:pt x="140" y="65"/>
                  <a:pt x="140" y="82"/>
                </a:cubicBezTo>
                <a:cubicBezTo>
                  <a:pt x="140" y="101"/>
                  <a:pt x="140" y="101"/>
                  <a:pt x="140" y="101"/>
                </a:cubicBezTo>
                <a:cubicBezTo>
                  <a:pt x="218" y="101"/>
                  <a:pt x="218" y="101"/>
                  <a:pt x="218" y="101"/>
                </a:cubicBezTo>
                <a:cubicBezTo>
                  <a:pt x="218" y="79"/>
                  <a:pt x="218" y="79"/>
                  <a:pt x="218" y="79"/>
                </a:cubicBezTo>
                <a:cubicBezTo>
                  <a:pt x="218" y="11"/>
                  <a:pt x="156" y="0"/>
                  <a:pt x="112" y="0"/>
                </a:cubicBezTo>
                <a:cubicBezTo>
                  <a:pt x="57" y="0"/>
                  <a:pt x="12" y="19"/>
                  <a:pt x="4" y="70"/>
                </a:cubicBezTo>
                <a:cubicBezTo>
                  <a:pt x="1" y="84"/>
                  <a:pt x="1" y="96"/>
                  <a:pt x="4" y="112"/>
                </a:cubicBezTo>
                <a:cubicBezTo>
                  <a:pt x="18" y="175"/>
                  <a:pt x="128" y="194"/>
                  <a:pt x="145" y="234"/>
                </a:cubicBezTo>
                <a:cubicBezTo>
                  <a:pt x="148" y="241"/>
                  <a:pt x="147" y="251"/>
                  <a:pt x="145" y="257"/>
                </a:cubicBezTo>
                <a:cubicBezTo>
                  <a:pt x="143" y="267"/>
                  <a:pt x="136" y="278"/>
                  <a:pt x="115" y="278"/>
                </a:cubicBezTo>
                <a:cubicBezTo>
                  <a:pt x="95" y="278"/>
                  <a:pt x="84" y="267"/>
                  <a:pt x="84" y="250"/>
                </a:cubicBezTo>
                <a:cubicBezTo>
                  <a:pt x="83" y="220"/>
                  <a:pt x="83" y="220"/>
                  <a:pt x="83" y="220"/>
                </a:cubicBezTo>
                <a:cubicBezTo>
                  <a:pt x="0" y="220"/>
                  <a:pt x="0" y="220"/>
                  <a:pt x="0" y="220"/>
                </a:cubicBezTo>
                <a:cubicBezTo>
                  <a:pt x="0" y="244"/>
                  <a:pt x="0" y="244"/>
                  <a:pt x="0" y="244"/>
                </a:cubicBezTo>
                <a:cubicBezTo>
                  <a:pt x="0" y="313"/>
                  <a:pt x="55" y="334"/>
                  <a:pt x="113" y="334"/>
                </a:cubicBezTo>
                <a:cubicBezTo>
                  <a:pt x="169" y="334"/>
                  <a:pt x="216" y="315"/>
                  <a:pt x="223" y="263"/>
                </a:cubicBezTo>
                <a:cubicBezTo>
                  <a:pt x="227" y="236"/>
                  <a:pt x="224" y="218"/>
                  <a:pt x="223" y="212"/>
                </a:cubicBezTo>
                <a:cubicBezTo>
                  <a:pt x="210" y="146"/>
                  <a:pt x="92" y="127"/>
                  <a:pt x="83" y="91"/>
                </a:cubicBezTo>
                <a:moveTo>
                  <a:pt x="1096" y="91"/>
                </a:moveTo>
                <a:cubicBezTo>
                  <a:pt x="1094" y="85"/>
                  <a:pt x="1095" y="79"/>
                  <a:pt x="1096" y="75"/>
                </a:cubicBezTo>
                <a:cubicBezTo>
                  <a:pt x="1098" y="65"/>
                  <a:pt x="1104" y="54"/>
                  <a:pt x="1124" y="54"/>
                </a:cubicBezTo>
                <a:cubicBezTo>
                  <a:pt x="1142" y="54"/>
                  <a:pt x="1152" y="66"/>
                  <a:pt x="1152" y="82"/>
                </a:cubicBezTo>
                <a:cubicBezTo>
                  <a:pt x="1152" y="102"/>
                  <a:pt x="1152" y="102"/>
                  <a:pt x="1152" y="102"/>
                </a:cubicBezTo>
                <a:cubicBezTo>
                  <a:pt x="1229" y="102"/>
                  <a:pt x="1229" y="102"/>
                  <a:pt x="1229" y="102"/>
                </a:cubicBezTo>
                <a:cubicBezTo>
                  <a:pt x="1229" y="80"/>
                  <a:pt x="1229" y="80"/>
                  <a:pt x="1229" y="80"/>
                </a:cubicBezTo>
                <a:cubicBezTo>
                  <a:pt x="1229" y="13"/>
                  <a:pt x="1169" y="2"/>
                  <a:pt x="1125" y="2"/>
                </a:cubicBezTo>
                <a:cubicBezTo>
                  <a:pt x="1070" y="2"/>
                  <a:pt x="1026" y="20"/>
                  <a:pt x="1017" y="71"/>
                </a:cubicBezTo>
                <a:cubicBezTo>
                  <a:pt x="1015" y="84"/>
                  <a:pt x="1015" y="97"/>
                  <a:pt x="1018" y="112"/>
                </a:cubicBezTo>
                <a:cubicBezTo>
                  <a:pt x="1032" y="175"/>
                  <a:pt x="1141" y="193"/>
                  <a:pt x="1157" y="233"/>
                </a:cubicBezTo>
                <a:cubicBezTo>
                  <a:pt x="1160" y="241"/>
                  <a:pt x="1159" y="250"/>
                  <a:pt x="1158" y="256"/>
                </a:cubicBezTo>
                <a:cubicBezTo>
                  <a:pt x="1155" y="267"/>
                  <a:pt x="1148" y="277"/>
                  <a:pt x="1128" y="277"/>
                </a:cubicBezTo>
                <a:cubicBezTo>
                  <a:pt x="1108" y="277"/>
                  <a:pt x="1097" y="266"/>
                  <a:pt x="1097" y="249"/>
                </a:cubicBezTo>
                <a:cubicBezTo>
                  <a:pt x="1097" y="219"/>
                  <a:pt x="1097" y="219"/>
                  <a:pt x="1097" y="219"/>
                </a:cubicBezTo>
                <a:cubicBezTo>
                  <a:pt x="1014" y="219"/>
                  <a:pt x="1014" y="219"/>
                  <a:pt x="1014" y="219"/>
                </a:cubicBezTo>
                <a:cubicBezTo>
                  <a:pt x="1014" y="243"/>
                  <a:pt x="1014" y="243"/>
                  <a:pt x="1014" y="243"/>
                </a:cubicBezTo>
                <a:cubicBezTo>
                  <a:pt x="1014" y="312"/>
                  <a:pt x="1068" y="332"/>
                  <a:pt x="1126" y="332"/>
                </a:cubicBezTo>
                <a:cubicBezTo>
                  <a:pt x="1182" y="332"/>
                  <a:pt x="1228" y="313"/>
                  <a:pt x="1235" y="262"/>
                </a:cubicBezTo>
                <a:cubicBezTo>
                  <a:pt x="1238" y="235"/>
                  <a:pt x="1236" y="218"/>
                  <a:pt x="1234" y="211"/>
                </a:cubicBezTo>
                <a:cubicBezTo>
                  <a:pt x="1221" y="147"/>
                  <a:pt x="1105" y="127"/>
                  <a:pt x="1096" y="91"/>
                </a:cubicBezTo>
                <a:moveTo>
                  <a:pt x="1803" y="261"/>
                </a:moveTo>
                <a:cubicBezTo>
                  <a:pt x="1730" y="10"/>
                  <a:pt x="1730" y="10"/>
                  <a:pt x="1730" y="10"/>
                </a:cubicBezTo>
                <a:cubicBezTo>
                  <a:pt x="1614" y="10"/>
                  <a:pt x="1614" y="10"/>
                  <a:pt x="1614" y="10"/>
                </a:cubicBezTo>
                <a:cubicBezTo>
                  <a:pt x="1614" y="319"/>
                  <a:pt x="1614" y="319"/>
                  <a:pt x="1614" y="319"/>
                </a:cubicBezTo>
                <a:cubicBezTo>
                  <a:pt x="1691" y="319"/>
                  <a:pt x="1691" y="319"/>
                  <a:pt x="1691" y="319"/>
                </a:cubicBezTo>
                <a:cubicBezTo>
                  <a:pt x="1686" y="60"/>
                  <a:pt x="1686" y="60"/>
                  <a:pt x="1686" y="60"/>
                </a:cubicBezTo>
                <a:cubicBezTo>
                  <a:pt x="1765" y="319"/>
                  <a:pt x="1765" y="319"/>
                  <a:pt x="1765" y="319"/>
                </a:cubicBezTo>
                <a:cubicBezTo>
                  <a:pt x="1876" y="319"/>
                  <a:pt x="1876" y="319"/>
                  <a:pt x="1876" y="319"/>
                </a:cubicBezTo>
                <a:cubicBezTo>
                  <a:pt x="1876" y="10"/>
                  <a:pt x="1876" y="10"/>
                  <a:pt x="1876" y="10"/>
                </a:cubicBezTo>
                <a:cubicBezTo>
                  <a:pt x="1799" y="10"/>
                  <a:pt x="1799" y="10"/>
                  <a:pt x="1799" y="10"/>
                </a:cubicBezTo>
                <a:lnTo>
                  <a:pt x="1803" y="261"/>
                </a:lnTo>
                <a:close/>
                <a:moveTo>
                  <a:pt x="333" y="10"/>
                </a:moveTo>
                <a:cubicBezTo>
                  <a:pt x="276" y="322"/>
                  <a:pt x="276" y="322"/>
                  <a:pt x="276" y="322"/>
                </a:cubicBezTo>
                <a:cubicBezTo>
                  <a:pt x="360" y="322"/>
                  <a:pt x="360" y="322"/>
                  <a:pt x="360" y="322"/>
                </a:cubicBezTo>
                <a:cubicBezTo>
                  <a:pt x="403" y="33"/>
                  <a:pt x="403" y="33"/>
                  <a:pt x="403" y="33"/>
                </a:cubicBezTo>
                <a:cubicBezTo>
                  <a:pt x="446" y="322"/>
                  <a:pt x="446" y="322"/>
                  <a:pt x="446" y="322"/>
                </a:cubicBezTo>
                <a:cubicBezTo>
                  <a:pt x="529" y="322"/>
                  <a:pt x="529" y="322"/>
                  <a:pt x="529" y="322"/>
                </a:cubicBezTo>
                <a:cubicBezTo>
                  <a:pt x="472" y="10"/>
                  <a:pt x="472" y="10"/>
                  <a:pt x="472" y="10"/>
                </a:cubicBezTo>
                <a:lnTo>
                  <a:pt x="333" y="10"/>
                </a:lnTo>
                <a:close/>
                <a:moveTo>
                  <a:pt x="804" y="10"/>
                </a:moveTo>
                <a:cubicBezTo>
                  <a:pt x="765" y="254"/>
                  <a:pt x="765" y="254"/>
                  <a:pt x="765" y="254"/>
                </a:cubicBezTo>
                <a:cubicBezTo>
                  <a:pt x="725" y="10"/>
                  <a:pt x="725" y="10"/>
                  <a:pt x="725" y="10"/>
                </a:cubicBezTo>
                <a:cubicBezTo>
                  <a:pt x="598" y="10"/>
                  <a:pt x="598" y="10"/>
                  <a:pt x="598" y="10"/>
                </a:cubicBezTo>
                <a:cubicBezTo>
                  <a:pt x="592" y="322"/>
                  <a:pt x="592" y="322"/>
                  <a:pt x="592" y="322"/>
                </a:cubicBezTo>
                <a:cubicBezTo>
                  <a:pt x="669" y="322"/>
                  <a:pt x="669" y="322"/>
                  <a:pt x="669" y="322"/>
                </a:cubicBezTo>
                <a:cubicBezTo>
                  <a:pt x="671" y="33"/>
                  <a:pt x="671" y="33"/>
                  <a:pt x="671" y="33"/>
                </a:cubicBezTo>
                <a:cubicBezTo>
                  <a:pt x="725" y="322"/>
                  <a:pt x="725" y="322"/>
                  <a:pt x="725" y="322"/>
                </a:cubicBezTo>
                <a:cubicBezTo>
                  <a:pt x="804" y="322"/>
                  <a:pt x="804" y="322"/>
                  <a:pt x="804" y="322"/>
                </a:cubicBezTo>
                <a:cubicBezTo>
                  <a:pt x="858" y="33"/>
                  <a:pt x="858" y="33"/>
                  <a:pt x="858" y="33"/>
                </a:cubicBezTo>
                <a:cubicBezTo>
                  <a:pt x="860" y="322"/>
                  <a:pt x="860" y="322"/>
                  <a:pt x="860" y="322"/>
                </a:cubicBezTo>
                <a:cubicBezTo>
                  <a:pt x="938" y="322"/>
                  <a:pt x="938" y="322"/>
                  <a:pt x="938" y="322"/>
                </a:cubicBezTo>
                <a:cubicBezTo>
                  <a:pt x="931" y="10"/>
                  <a:pt x="931" y="10"/>
                  <a:pt x="931" y="10"/>
                </a:cubicBezTo>
                <a:lnTo>
                  <a:pt x="804" y="10"/>
                </a:lnTo>
                <a:close/>
                <a:moveTo>
                  <a:pt x="1528" y="10"/>
                </a:moveTo>
                <a:cubicBezTo>
                  <a:pt x="1449" y="10"/>
                  <a:pt x="1449" y="10"/>
                  <a:pt x="1449" y="10"/>
                </a:cubicBezTo>
                <a:cubicBezTo>
                  <a:pt x="1449" y="241"/>
                  <a:pt x="1449" y="241"/>
                  <a:pt x="1449" y="241"/>
                </a:cubicBezTo>
                <a:cubicBezTo>
                  <a:pt x="1449" y="245"/>
                  <a:pt x="1449" y="249"/>
                  <a:pt x="1448" y="253"/>
                </a:cubicBezTo>
                <a:cubicBezTo>
                  <a:pt x="1447" y="260"/>
                  <a:pt x="1440" y="275"/>
                  <a:pt x="1418" y="275"/>
                </a:cubicBezTo>
                <a:cubicBezTo>
                  <a:pt x="1397" y="275"/>
                  <a:pt x="1390" y="260"/>
                  <a:pt x="1389" y="253"/>
                </a:cubicBezTo>
                <a:cubicBezTo>
                  <a:pt x="1388" y="249"/>
                  <a:pt x="1388" y="245"/>
                  <a:pt x="1388" y="241"/>
                </a:cubicBezTo>
                <a:cubicBezTo>
                  <a:pt x="1388" y="10"/>
                  <a:pt x="1388" y="10"/>
                  <a:pt x="1388" y="10"/>
                </a:cubicBezTo>
                <a:cubicBezTo>
                  <a:pt x="1309" y="10"/>
                  <a:pt x="1309" y="10"/>
                  <a:pt x="1309" y="10"/>
                </a:cubicBezTo>
                <a:cubicBezTo>
                  <a:pt x="1309" y="234"/>
                  <a:pt x="1309" y="234"/>
                  <a:pt x="1309" y="234"/>
                </a:cubicBezTo>
                <a:cubicBezTo>
                  <a:pt x="1309" y="239"/>
                  <a:pt x="1309" y="251"/>
                  <a:pt x="1310" y="254"/>
                </a:cubicBezTo>
                <a:cubicBezTo>
                  <a:pt x="1315" y="312"/>
                  <a:pt x="1361" y="331"/>
                  <a:pt x="1418" y="331"/>
                </a:cubicBezTo>
                <a:cubicBezTo>
                  <a:pt x="1476" y="331"/>
                  <a:pt x="1522" y="312"/>
                  <a:pt x="1527" y="254"/>
                </a:cubicBezTo>
                <a:cubicBezTo>
                  <a:pt x="1528" y="251"/>
                  <a:pt x="1528" y="239"/>
                  <a:pt x="1528" y="234"/>
                </a:cubicBezTo>
                <a:lnTo>
                  <a:pt x="1528" y="10"/>
                </a:lnTo>
                <a:close/>
                <a:moveTo>
                  <a:pt x="2069" y="147"/>
                </a:moveTo>
                <a:cubicBezTo>
                  <a:pt x="2069" y="192"/>
                  <a:pt x="2069" y="192"/>
                  <a:pt x="2069" y="192"/>
                </a:cubicBezTo>
                <a:cubicBezTo>
                  <a:pt x="2101" y="192"/>
                  <a:pt x="2101" y="192"/>
                  <a:pt x="2101" y="192"/>
                </a:cubicBezTo>
                <a:cubicBezTo>
                  <a:pt x="2101" y="237"/>
                  <a:pt x="2101" y="237"/>
                  <a:pt x="2101" y="237"/>
                </a:cubicBezTo>
                <a:cubicBezTo>
                  <a:pt x="2101" y="241"/>
                  <a:pt x="2101" y="246"/>
                  <a:pt x="2100" y="249"/>
                </a:cubicBezTo>
                <a:cubicBezTo>
                  <a:pt x="2099" y="258"/>
                  <a:pt x="2091" y="272"/>
                  <a:pt x="2068" y="272"/>
                </a:cubicBezTo>
                <a:cubicBezTo>
                  <a:pt x="2045" y="272"/>
                  <a:pt x="2038" y="258"/>
                  <a:pt x="2036" y="249"/>
                </a:cubicBezTo>
                <a:cubicBezTo>
                  <a:pt x="2036" y="246"/>
                  <a:pt x="2035" y="241"/>
                  <a:pt x="2035" y="237"/>
                </a:cubicBezTo>
                <a:cubicBezTo>
                  <a:pt x="2035" y="95"/>
                  <a:pt x="2035" y="95"/>
                  <a:pt x="2035" y="95"/>
                </a:cubicBezTo>
                <a:cubicBezTo>
                  <a:pt x="2035" y="90"/>
                  <a:pt x="2036" y="85"/>
                  <a:pt x="2037" y="80"/>
                </a:cubicBezTo>
                <a:cubicBezTo>
                  <a:pt x="2038" y="73"/>
                  <a:pt x="2045" y="58"/>
                  <a:pt x="2068" y="58"/>
                </a:cubicBezTo>
                <a:cubicBezTo>
                  <a:pt x="2092" y="58"/>
                  <a:pt x="2098" y="74"/>
                  <a:pt x="2099" y="80"/>
                </a:cubicBezTo>
                <a:cubicBezTo>
                  <a:pt x="2100" y="85"/>
                  <a:pt x="2100" y="92"/>
                  <a:pt x="2100" y="92"/>
                </a:cubicBezTo>
                <a:cubicBezTo>
                  <a:pt x="2100" y="110"/>
                  <a:pt x="2100" y="110"/>
                  <a:pt x="2100" y="110"/>
                </a:cubicBezTo>
                <a:cubicBezTo>
                  <a:pt x="2178" y="110"/>
                  <a:pt x="2178" y="110"/>
                  <a:pt x="2178" y="110"/>
                </a:cubicBezTo>
                <a:cubicBezTo>
                  <a:pt x="2178" y="99"/>
                  <a:pt x="2178" y="99"/>
                  <a:pt x="2178" y="99"/>
                </a:cubicBezTo>
                <a:cubicBezTo>
                  <a:pt x="2178" y="99"/>
                  <a:pt x="2179" y="89"/>
                  <a:pt x="2178" y="79"/>
                </a:cubicBezTo>
                <a:cubicBezTo>
                  <a:pt x="2172" y="20"/>
                  <a:pt x="2124" y="2"/>
                  <a:pt x="2068" y="2"/>
                </a:cubicBezTo>
                <a:cubicBezTo>
                  <a:pt x="2013" y="2"/>
                  <a:pt x="1966" y="21"/>
                  <a:pt x="1959" y="79"/>
                </a:cubicBezTo>
                <a:cubicBezTo>
                  <a:pt x="1958" y="84"/>
                  <a:pt x="1958" y="94"/>
                  <a:pt x="1958" y="99"/>
                </a:cubicBezTo>
                <a:cubicBezTo>
                  <a:pt x="1958" y="230"/>
                  <a:pt x="1958" y="230"/>
                  <a:pt x="1958" y="230"/>
                </a:cubicBezTo>
                <a:cubicBezTo>
                  <a:pt x="1958" y="236"/>
                  <a:pt x="1958" y="241"/>
                  <a:pt x="1959" y="251"/>
                </a:cubicBezTo>
                <a:cubicBezTo>
                  <a:pt x="1964" y="308"/>
                  <a:pt x="2013" y="328"/>
                  <a:pt x="2068" y="328"/>
                </a:cubicBezTo>
                <a:cubicBezTo>
                  <a:pt x="2124" y="328"/>
                  <a:pt x="2173" y="308"/>
                  <a:pt x="2178" y="251"/>
                </a:cubicBezTo>
                <a:cubicBezTo>
                  <a:pt x="2179" y="241"/>
                  <a:pt x="2179" y="236"/>
                  <a:pt x="2179" y="230"/>
                </a:cubicBezTo>
                <a:cubicBezTo>
                  <a:pt x="2179" y="147"/>
                  <a:pt x="2179" y="147"/>
                  <a:pt x="2179" y="147"/>
                </a:cubicBezTo>
                <a:lnTo>
                  <a:pt x="2069" y="147"/>
                </a:lnTo>
                <a:close/>
              </a:path>
            </a:pathLst>
          </a:custGeom>
          <a:solidFill>
            <a:srgbClr val="0924A5"/>
          </a:solidFill>
          <a:ln>
            <a:noFill/>
          </a:ln>
        </p:spPr>
        <p:txBody>
          <a:bodyPr vert="horz" wrap="square" lIns="91411" tIns="45705" rIns="91411" bIns="45705" numCol="1" anchor="t" anchorCtr="0" compatLnSpc="1">
            <a:prstTxWarp prst="textNoShape">
              <a:avLst/>
            </a:prstTxWarp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pPr marL="0" marR="0" lvl="0" indent="0" algn="l" defTabSz="914126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sz="1959" noProof="0" dirty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5631" y="6141164"/>
            <a:ext cx="1371564" cy="4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44426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7928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91" r:id="rId2"/>
    <p:sldLayoutId id="2147483685" r:id="rId3"/>
    <p:sldLayoutId id="2147483687" r:id="rId4"/>
    <p:sldLayoutId id="2147483694" r:id="rId5"/>
    <p:sldLayoutId id="2147483693" r:id="rId6"/>
    <p:sldLayoutId id="2147483686" r:id="rId7"/>
    <p:sldLayoutId id="2147483688" r:id="rId8"/>
    <p:sldLayoutId id="2147483689" r:id="rId9"/>
    <p:sldLayoutId id="2147483690" r:id="rId10"/>
  </p:sldLayoutIdLst>
  <p:txStyles>
    <p:titleStyle>
      <a:lvl1pPr algn="l" defTabSz="914126" rtl="0" eaLnBrk="1" latinLnBrk="1" hangingPunct="1">
        <a:lnSpc>
          <a:spcPct val="90000"/>
        </a:lnSpc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31" indent="-228531" algn="l" defTabSz="914126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799" kern="1200">
          <a:solidFill>
            <a:schemeClr val="tx1"/>
          </a:solidFill>
          <a:latin typeface="+mn-lt"/>
          <a:ea typeface="+mn-ea"/>
          <a:cs typeface="+mn-cs"/>
        </a:defRPr>
      </a:lvl1pPr>
      <a:lvl2pPr marL="685594" indent="-228531" algn="l" defTabSz="91412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2pPr>
      <a:lvl3pPr marL="1142657" indent="-228531" algn="l" defTabSz="91412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3pPr>
      <a:lvl4pPr marL="1599720" indent="-228531" algn="l" defTabSz="91412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2056783" indent="-228531" algn="l" defTabSz="91412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91412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91412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91412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91412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1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1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1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1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1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1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1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1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1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github.com/VoHaiDung/ag-news-text-classificatio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ABA57D5-7920-4C59-8990-1FDF22441FA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/>
              <a:t>Aimer PAM</a:t>
            </a:r>
            <a:endParaRPr lang="ko-KR" altLang="en-US" dirty="0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51786819-9BFB-478D-BAE7-57DB1DEAC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1710000"/>
            <a:ext cx="5221019" cy="1477328"/>
          </a:xfrm>
        </p:spPr>
        <p:txBody>
          <a:bodyPr/>
          <a:lstStyle/>
          <a:p>
            <a:r>
              <a:rPr lang="en-US" altLang="ko-KR"/>
              <a:t>AG News Text Classification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091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1">
            <a:extLst>
              <a:ext uri="{FF2B5EF4-FFF2-40B4-BE49-F238E27FC236}">
                <a16:creationId xmlns:a16="http://schemas.microsoft.com/office/drawing/2014/main" id="{1E42F3CA-E8F5-41D4-A677-F15543C46B01}"/>
              </a:ext>
            </a:extLst>
          </p:cNvPr>
          <p:cNvGrpSpPr/>
          <p:nvPr/>
        </p:nvGrpSpPr>
        <p:grpSpPr>
          <a:xfrm>
            <a:off x="710836" y="1892040"/>
            <a:ext cx="4379913" cy="1216982"/>
            <a:chOff x="4181256" y="3224809"/>
            <a:chExt cx="4379913" cy="1216982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EEA224A4-F527-4CB0-B62E-359CBCD4E781}"/>
                </a:ext>
              </a:extLst>
            </p:cNvPr>
            <p:cNvSpPr/>
            <p:nvPr/>
          </p:nvSpPr>
          <p:spPr>
            <a:xfrm>
              <a:off x="4364136" y="3225982"/>
              <a:ext cx="4197033" cy="27699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spAutoFit/>
              <a:scene3d>
                <a:camera prst="orthographicFront"/>
                <a:lightRig rig="threePt" dir="t"/>
              </a:scene3d>
              <a:sp3d>
                <a:bevelT w="0" h="6350"/>
              </a:sp3d>
            </a:bodyPr>
            <a:lstStyle/>
            <a:p>
              <a:pPr>
                <a:spcAft>
                  <a:spcPts val="600"/>
                </a:spcAft>
              </a:pPr>
              <a:r>
                <a:rPr lang="en-US" altLang="ko-KR">
                  <a:solidFill>
                    <a:schemeClr val="tx1">
                      <a:lumMod val="75000"/>
                      <a:lumOff val="25000"/>
                    </a:schemeClr>
                  </a:solidFill>
                  <a:latin typeface="SamsungOne 700" panose="020B0803030303020204" pitchFamily="34" charset="0"/>
                  <a:ea typeface="SamsungOne 700" panose="020B0803030303020204" pitchFamily="34" charset="0"/>
                </a:rPr>
                <a:t>Unit 1. </a:t>
              </a:r>
              <a:r>
                <a:rPr lang="en-US">
                  <a:solidFill>
                    <a:schemeClr val="tx1">
                      <a:lumMod val="75000"/>
                      <a:lumOff val="25000"/>
                    </a:schemeClr>
                  </a:solidFill>
                  <a:latin typeface="SamsungOne 700" panose="020B0803030303020204" pitchFamily="34" charset="0"/>
                  <a:ea typeface="SamsungOne 700" panose="020B0803030303020204" pitchFamily="34" charset="0"/>
                </a:rPr>
                <a:t>Problem framing and pipeline</a:t>
              </a: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55CBCEC-393B-4E62-A937-E41B3CD7A93E}"/>
                </a:ext>
              </a:extLst>
            </p:cNvPr>
            <p:cNvSpPr/>
            <p:nvPr/>
          </p:nvSpPr>
          <p:spPr>
            <a:xfrm>
              <a:off x="4181256" y="3224809"/>
              <a:ext cx="36000" cy="252000"/>
            </a:xfrm>
            <a:prstGeom prst="rect">
              <a:avLst/>
            </a:prstGeom>
            <a:solidFill>
              <a:srgbClr val="193EB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scene3d>
                <a:camera prst="orthographicFront"/>
                <a:lightRig rig="threePt" dir="t"/>
              </a:scene3d>
              <a:sp3d>
                <a:bevelT w="0" h="6350"/>
              </a:sp3d>
            </a:bodyPr>
            <a:lstStyle/>
            <a:p>
              <a:pPr algn="ctr"/>
              <a:endParaRPr lang="ko-KR" altLang="en-US" sz="2800" dirty="0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276F31AB-CE0B-4C60-A822-96C574A8736B}"/>
                </a:ext>
              </a:extLst>
            </p:cNvPr>
            <p:cNvSpPr/>
            <p:nvPr/>
          </p:nvSpPr>
          <p:spPr>
            <a:xfrm>
              <a:off x="5160752" y="3641572"/>
              <a:ext cx="3400417" cy="80021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t">
              <a:spAutoFit/>
              <a:scene3d>
                <a:camera prst="orthographicFront"/>
                <a:lightRig rig="threePt" dir="t"/>
              </a:scene3d>
              <a:sp3d>
                <a:bevelT w="0" h="6350"/>
              </a:sp3d>
            </a:bodyPr>
            <a:lstStyle/>
            <a:p>
              <a:pPr>
                <a:spcAft>
                  <a:spcPts val="600"/>
                </a:spcAft>
              </a:pPr>
              <a:r>
                <a:rPr lang="en-US" altLang="ko-KR" sz="1400">
                  <a:solidFill>
                    <a:srgbClr val="193EB0"/>
                  </a:solidFill>
                  <a:latin typeface="SamsungOne 700" panose="020B0803030303020204" pitchFamily="34" charset="0"/>
                  <a:ea typeface="SamsungOne 700" panose="020B0803030303020204" pitchFamily="34" charset="0"/>
                </a:rPr>
                <a:t>1.1. Motivation and the 2025 NLP toolkit</a:t>
              </a:r>
            </a:p>
            <a:p>
              <a:pPr>
                <a:spcAft>
                  <a:spcPts val="600"/>
                </a:spcAft>
              </a:pPr>
              <a:r>
                <a:rPr lang="en-US" altLang="ko-KR" sz="1400">
                  <a:solidFill>
                    <a:schemeClr val="bg1">
                      <a:lumMod val="65000"/>
                    </a:schemeClr>
                  </a:solidFill>
                  <a:latin typeface="SamsungOne 400" panose="020B0503030303020204" pitchFamily="34" charset="0"/>
                  <a:ea typeface="SamsungOne 400" panose="020B0503030303020204" pitchFamily="34" charset="0"/>
                </a:rPr>
                <a:t>1.2. Objectives O1–O8 and success metrics</a:t>
              </a:r>
              <a:endParaRPr lang="en-US" altLang="ko-KR" sz="1400" dirty="0">
                <a:solidFill>
                  <a:schemeClr val="bg1">
                    <a:lumMod val="65000"/>
                  </a:schemeClr>
                </a:solidFill>
                <a:latin typeface="SamsungOne 400" panose="020B0503030303020204" pitchFamily="34" charset="0"/>
                <a:ea typeface="SamsungOne 400" panose="020B0503030303020204" pitchFamily="34" charset="0"/>
              </a:endParaRPr>
            </a:p>
            <a:p>
              <a:pPr>
                <a:spcAft>
                  <a:spcPts val="600"/>
                </a:spcAft>
              </a:pPr>
              <a:r>
                <a:rPr lang="en-US" altLang="ko-KR" sz="1400">
                  <a:solidFill>
                    <a:schemeClr val="bg1">
                      <a:lumMod val="65000"/>
                    </a:schemeClr>
                  </a:solidFill>
                  <a:latin typeface="SamsungOne 400" panose="020B0503030303020204" pitchFamily="34" charset="0"/>
                  <a:ea typeface="SamsungOne 400" panose="020B0503030303020204" pitchFamily="34" charset="0"/>
                </a:rPr>
                <a:t>1.3. Dataset, EDA and nine-phase pipeline</a:t>
              </a:r>
              <a:endParaRPr lang="en-US" altLang="ko-KR" sz="1400" dirty="0">
                <a:solidFill>
                  <a:schemeClr val="bg1">
                    <a:lumMod val="65000"/>
                  </a:schemeClr>
                </a:solidFill>
                <a:latin typeface="SamsungOne 400" panose="020B0503030303020204" pitchFamily="34" charset="0"/>
                <a:ea typeface="SamsungOne 400" panose="020B0503030303020204" pitchFamily="34" charset="0"/>
              </a:endParaRPr>
            </a:p>
          </p:txBody>
        </p:sp>
      </p:grpSp>
      <p:grpSp>
        <p:nvGrpSpPr>
          <p:cNvPr id="8" name="Group 1">
            <a:extLst>
              <a:ext uri="{FF2B5EF4-FFF2-40B4-BE49-F238E27FC236}">
                <a16:creationId xmlns:a16="http://schemas.microsoft.com/office/drawing/2014/main" id="{730BB671-9743-4819-9105-2FF86D4E0E36}"/>
              </a:ext>
            </a:extLst>
          </p:cNvPr>
          <p:cNvGrpSpPr/>
          <p:nvPr/>
        </p:nvGrpSpPr>
        <p:grpSpPr>
          <a:xfrm>
            <a:off x="710836" y="3266753"/>
            <a:ext cx="6610523" cy="1216982"/>
            <a:chOff x="4181256" y="3224809"/>
            <a:chExt cx="6610523" cy="1216982"/>
          </a:xfrm>
        </p:grpSpPr>
        <p:sp>
          <p:nvSpPr>
            <p:cNvPr id="9" name="직사각형 37">
              <a:extLst>
                <a:ext uri="{FF2B5EF4-FFF2-40B4-BE49-F238E27FC236}">
                  <a16:creationId xmlns:a16="http://schemas.microsoft.com/office/drawing/2014/main" id="{44B7DD30-17C5-4D7E-8AC2-EA4E01FBA36D}"/>
                </a:ext>
              </a:extLst>
            </p:cNvPr>
            <p:cNvSpPr/>
            <p:nvPr/>
          </p:nvSpPr>
          <p:spPr>
            <a:xfrm>
              <a:off x="4364136" y="3225982"/>
              <a:ext cx="5667027" cy="27699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spAutoFit/>
              <a:scene3d>
                <a:camera prst="orthographicFront"/>
                <a:lightRig rig="threePt" dir="t"/>
              </a:scene3d>
              <a:sp3d>
                <a:bevelT w="0" h="6350"/>
              </a:sp3d>
            </a:bodyPr>
            <a:lstStyle/>
            <a:p>
              <a:pPr>
                <a:spcAft>
                  <a:spcPts val="600"/>
                </a:spcAft>
              </a:pPr>
              <a:r>
                <a:rPr lang="en-US" altLang="ko-KR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amsungOne 700" panose="020B0803030303020204" pitchFamily="34" charset="0"/>
                  <a:ea typeface="SamsungOne 700" panose="020B0803030303020204" pitchFamily="34" charset="0"/>
                </a:rPr>
                <a:t>Unit 2</a:t>
              </a:r>
              <a:r>
                <a:rPr lang="en-US" altLang="ko-KR">
                  <a:solidFill>
                    <a:schemeClr val="tx1">
                      <a:lumMod val="75000"/>
                      <a:lumOff val="25000"/>
                    </a:schemeClr>
                  </a:solidFill>
                  <a:latin typeface="SamsungOne 700" panose="020B0803030303020204" pitchFamily="34" charset="0"/>
                  <a:ea typeface="SamsungOne 700" panose="020B0803030303020204" pitchFamily="34" charset="0"/>
                </a:rPr>
                <a:t>. Modeling: from baselines to a tri-lingual lineup</a:t>
              </a:r>
              <a:endPara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latin typeface="SamsungOne 700" panose="020B0803030303020204" pitchFamily="34" charset="0"/>
                <a:ea typeface="SamsungOne 700" panose="020B0803030303020204" pitchFamily="34" charset="0"/>
              </a:endParaRPr>
            </a:p>
          </p:txBody>
        </p:sp>
        <p:sp>
          <p:nvSpPr>
            <p:cNvPr id="10" name="직사각형 38">
              <a:extLst>
                <a:ext uri="{FF2B5EF4-FFF2-40B4-BE49-F238E27FC236}">
                  <a16:creationId xmlns:a16="http://schemas.microsoft.com/office/drawing/2014/main" id="{0544C2E7-AEB2-4C9F-BC7B-16A176B1A6CD}"/>
                </a:ext>
              </a:extLst>
            </p:cNvPr>
            <p:cNvSpPr/>
            <p:nvPr/>
          </p:nvSpPr>
          <p:spPr>
            <a:xfrm>
              <a:off x="4181256" y="3224809"/>
              <a:ext cx="36000" cy="252000"/>
            </a:xfrm>
            <a:prstGeom prst="rect">
              <a:avLst/>
            </a:prstGeom>
            <a:solidFill>
              <a:srgbClr val="193EB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scene3d>
                <a:camera prst="orthographicFront"/>
                <a:lightRig rig="threePt" dir="t"/>
              </a:scene3d>
              <a:sp3d>
                <a:bevelT w="0" h="6350"/>
              </a:sp3d>
            </a:bodyPr>
            <a:lstStyle/>
            <a:p>
              <a:pPr algn="ctr"/>
              <a:endParaRPr lang="ko-KR" altLang="en-US" sz="2800" dirty="0"/>
            </a:p>
          </p:txBody>
        </p:sp>
        <p:sp>
          <p:nvSpPr>
            <p:cNvPr id="11" name="직사각형 39">
              <a:extLst>
                <a:ext uri="{FF2B5EF4-FFF2-40B4-BE49-F238E27FC236}">
                  <a16:creationId xmlns:a16="http://schemas.microsoft.com/office/drawing/2014/main" id="{8FF9FD52-A1FA-45F7-80A2-FC3AF69D82B2}"/>
                </a:ext>
              </a:extLst>
            </p:cNvPr>
            <p:cNvSpPr/>
            <p:nvPr/>
          </p:nvSpPr>
          <p:spPr>
            <a:xfrm>
              <a:off x="5160752" y="3641572"/>
              <a:ext cx="5631027" cy="80021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t">
              <a:spAutoFit/>
              <a:scene3d>
                <a:camera prst="orthographicFront"/>
                <a:lightRig rig="threePt" dir="t"/>
              </a:scene3d>
              <a:sp3d>
                <a:bevelT w="0" h="6350"/>
              </a:sp3d>
            </a:bodyPr>
            <a:lstStyle/>
            <a:p>
              <a:pPr>
                <a:spcAft>
                  <a:spcPts val="600"/>
                </a:spcAft>
              </a:pPr>
              <a:r>
                <a:rPr lang="en-US" altLang="ko-KR" sz="1400" dirty="0">
                  <a:solidFill>
                    <a:srgbClr val="193EB0"/>
                  </a:solidFill>
                  <a:latin typeface="SamsungOne 700" panose="020B0803030303020204" pitchFamily="34" charset="0"/>
                  <a:ea typeface="SamsungOne 700" panose="020B0803030303020204" pitchFamily="34" charset="0"/>
                </a:rPr>
                <a:t>2.1</a:t>
              </a:r>
              <a:r>
                <a:rPr lang="en-US" altLang="ko-KR" sz="1400">
                  <a:solidFill>
                    <a:srgbClr val="193EB0"/>
                  </a:solidFill>
                  <a:latin typeface="SamsungOne 700" panose="020B0803030303020204" pitchFamily="34" charset="0"/>
                  <a:ea typeface="SamsungOne 700" panose="020B0803030303020204" pitchFamily="34" charset="0"/>
                </a:rPr>
                <a:t>. Classical baselines and transformer scale ablation</a:t>
              </a:r>
            </a:p>
            <a:p>
              <a:pPr>
                <a:spcAft>
                  <a:spcPts val="600"/>
                </a:spcAft>
              </a:pPr>
              <a:r>
                <a:rPr lang="en-US" altLang="ko-KR" sz="1400">
                  <a:solidFill>
                    <a:schemeClr val="bg1">
                      <a:lumMod val="65000"/>
                    </a:schemeClr>
                  </a:solidFill>
                  <a:latin typeface="SamsungOne 400" panose="020B0503030303020204" pitchFamily="34" charset="0"/>
                  <a:ea typeface="SamsungOne 400" panose="020B0503030303020204" pitchFamily="34" charset="0"/>
                </a:rPr>
                <a:t>2.2. Variance reduction: R-Drop + 3-seed ensemble</a:t>
              </a:r>
            </a:p>
            <a:p>
              <a:pPr>
                <a:spcAft>
                  <a:spcPts val="600"/>
                </a:spcAft>
              </a:pPr>
              <a:r>
                <a:rPr lang="en-US" altLang="ko-KR" sz="1400">
                  <a:solidFill>
                    <a:schemeClr val="bg1">
                      <a:lumMod val="65000"/>
                    </a:schemeClr>
                  </a:solidFill>
                  <a:latin typeface="SamsungOne 400" panose="020B0503030303020204" pitchFamily="34" charset="0"/>
                  <a:ea typeface="SamsungOne 400" panose="020B0503030303020204" pitchFamily="34" charset="0"/>
                </a:rPr>
                <a:t>2.3. Multilingual extension (Vietnamese + French) and few-shot SetFit</a:t>
              </a:r>
              <a:endParaRPr lang="en-US" altLang="ko-KR" sz="1400" dirty="0">
                <a:solidFill>
                  <a:schemeClr val="bg1">
                    <a:lumMod val="65000"/>
                  </a:schemeClr>
                </a:solidFill>
                <a:latin typeface="SamsungOne 400" panose="020B0503030303020204" pitchFamily="34" charset="0"/>
                <a:ea typeface="SamsungOne 400" panose="020B0503030303020204" pitchFamily="34" charset="0"/>
              </a:endParaRPr>
            </a:p>
          </p:txBody>
        </p:sp>
      </p:grpSp>
      <p:grpSp>
        <p:nvGrpSpPr>
          <p:cNvPr id="12" name="Group 1">
            <a:extLst>
              <a:ext uri="{FF2B5EF4-FFF2-40B4-BE49-F238E27FC236}">
                <a16:creationId xmlns:a16="http://schemas.microsoft.com/office/drawing/2014/main" id="{99E1C113-2E13-42D7-B0BA-4B851632AACF}"/>
              </a:ext>
            </a:extLst>
          </p:cNvPr>
          <p:cNvGrpSpPr/>
          <p:nvPr/>
        </p:nvGrpSpPr>
        <p:grpSpPr>
          <a:xfrm>
            <a:off x="710836" y="4641466"/>
            <a:ext cx="4962176" cy="1216982"/>
            <a:chOff x="4181256" y="3224809"/>
            <a:chExt cx="4962176" cy="1216982"/>
          </a:xfrm>
        </p:grpSpPr>
        <p:sp>
          <p:nvSpPr>
            <p:cNvPr id="13" name="직사각형 37">
              <a:extLst>
                <a:ext uri="{FF2B5EF4-FFF2-40B4-BE49-F238E27FC236}">
                  <a16:creationId xmlns:a16="http://schemas.microsoft.com/office/drawing/2014/main" id="{B347DB6E-48AB-4ECB-AF93-4C89FBDF1471}"/>
                </a:ext>
              </a:extLst>
            </p:cNvPr>
            <p:cNvSpPr/>
            <p:nvPr/>
          </p:nvSpPr>
          <p:spPr>
            <a:xfrm>
              <a:off x="4364136" y="3225982"/>
              <a:ext cx="4779296" cy="27699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spAutoFit/>
              <a:scene3d>
                <a:camera prst="orthographicFront"/>
                <a:lightRig rig="threePt" dir="t"/>
              </a:scene3d>
              <a:sp3d>
                <a:bevelT w="0" h="6350"/>
              </a:sp3d>
            </a:bodyPr>
            <a:lstStyle/>
            <a:p>
              <a:pPr>
                <a:spcAft>
                  <a:spcPts val="600"/>
                </a:spcAft>
              </a:pPr>
              <a:r>
                <a:rPr lang="en-US" altLang="ko-KR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SamsungOne 700" panose="020B0803030303020204" pitchFamily="34" charset="0"/>
                  <a:ea typeface="SamsungOne 700" panose="020B0803030303020204" pitchFamily="34" charset="0"/>
                </a:rPr>
                <a:t>Unit 3</a:t>
              </a:r>
              <a:r>
                <a:rPr lang="en-US" altLang="ko-KR">
                  <a:solidFill>
                    <a:schemeClr val="tx1">
                      <a:lumMod val="75000"/>
                      <a:lumOff val="25000"/>
                    </a:schemeClr>
                  </a:solidFill>
                  <a:latin typeface="SamsungOne 700" panose="020B0803030303020204" pitchFamily="34" charset="0"/>
                  <a:ea typeface="SamsungOne 700" panose="020B0803030303020204" pitchFamily="34" charset="0"/>
                </a:rPr>
                <a:t>. Evaluation, deployment and outcomes</a:t>
              </a:r>
              <a:endPara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latin typeface="SamsungOne 700" panose="020B0803030303020204" pitchFamily="34" charset="0"/>
                <a:ea typeface="SamsungOne 700" panose="020B0803030303020204" pitchFamily="34" charset="0"/>
              </a:endParaRPr>
            </a:p>
          </p:txBody>
        </p:sp>
        <p:sp>
          <p:nvSpPr>
            <p:cNvPr id="14" name="직사각형 38">
              <a:extLst>
                <a:ext uri="{FF2B5EF4-FFF2-40B4-BE49-F238E27FC236}">
                  <a16:creationId xmlns:a16="http://schemas.microsoft.com/office/drawing/2014/main" id="{0B90DCE9-673D-4E88-91C4-A7B10F5EEAE4}"/>
                </a:ext>
              </a:extLst>
            </p:cNvPr>
            <p:cNvSpPr/>
            <p:nvPr/>
          </p:nvSpPr>
          <p:spPr>
            <a:xfrm>
              <a:off x="4181256" y="3224809"/>
              <a:ext cx="36000" cy="252000"/>
            </a:xfrm>
            <a:prstGeom prst="rect">
              <a:avLst/>
            </a:prstGeom>
            <a:solidFill>
              <a:srgbClr val="193EB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scene3d>
                <a:camera prst="orthographicFront"/>
                <a:lightRig rig="threePt" dir="t"/>
              </a:scene3d>
              <a:sp3d>
                <a:bevelT w="0" h="6350"/>
              </a:sp3d>
            </a:bodyPr>
            <a:lstStyle/>
            <a:p>
              <a:pPr algn="ctr"/>
              <a:endParaRPr lang="ko-KR" altLang="en-US" sz="2800" dirty="0"/>
            </a:p>
          </p:txBody>
        </p:sp>
        <p:sp>
          <p:nvSpPr>
            <p:cNvPr id="15" name="직사각형 39">
              <a:extLst>
                <a:ext uri="{FF2B5EF4-FFF2-40B4-BE49-F238E27FC236}">
                  <a16:creationId xmlns:a16="http://schemas.microsoft.com/office/drawing/2014/main" id="{2825410F-2C46-47C0-A8BD-61DC6D753D88}"/>
                </a:ext>
              </a:extLst>
            </p:cNvPr>
            <p:cNvSpPr/>
            <p:nvPr/>
          </p:nvSpPr>
          <p:spPr>
            <a:xfrm>
              <a:off x="5160752" y="3641572"/>
              <a:ext cx="3917366" cy="80021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t">
              <a:spAutoFit/>
              <a:scene3d>
                <a:camera prst="orthographicFront"/>
                <a:lightRig rig="threePt" dir="t"/>
              </a:scene3d>
              <a:sp3d>
                <a:bevelT w="0" h="6350"/>
              </a:sp3d>
            </a:bodyPr>
            <a:lstStyle/>
            <a:p>
              <a:pPr>
                <a:spcAft>
                  <a:spcPts val="600"/>
                </a:spcAft>
              </a:pPr>
              <a:r>
                <a:rPr lang="en-US" altLang="ko-KR" sz="1400" dirty="0">
                  <a:solidFill>
                    <a:srgbClr val="193EB0"/>
                  </a:solidFill>
                  <a:latin typeface="SamsungOne 700" panose="020B0803030303020204" pitchFamily="34" charset="0"/>
                  <a:ea typeface="SamsungOne 700" panose="020B0803030303020204" pitchFamily="34" charset="0"/>
                </a:rPr>
                <a:t>3.1</a:t>
              </a:r>
              <a:r>
                <a:rPr lang="en-US" altLang="ko-KR" sz="1400">
                  <a:solidFill>
                    <a:srgbClr val="193EB0"/>
                  </a:solidFill>
                  <a:latin typeface="SamsungOne 700" panose="020B0803030303020204" pitchFamily="34" charset="0"/>
                  <a:ea typeface="SamsungOne 700" panose="020B0803030303020204" pitchFamily="34" charset="0"/>
                </a:rPr>
                <a:t>. Calibration and explainability (SHAP / LIME)</a:t>
              </a:r>
              <a:endParaRPr lang="en-US" altLang="ko-KR" sz="1400" dirty="0">
                <a:solidFill>
                  <a:srgbClr val="193EB0"/>
                </a:solidFill>
                <a:latin typeface="SamsungOne 700" panose="020B0803030303020204" pitchFamily="34" charset="0"/>
                <a:ea typeface="SamsungOne 700" panose="020B0803030303020204" pitchFamily="34" charset="0"/>
              </a:endParaRPr>
            </a:p>
            <a:p>
              <a:pPr>
                <a:spcAft>
                  <a:spcPts val="600"/>
                </a:spcAft>
              </a:pPr>
              <a:r>
                <a:rPr lang="en-US" altLang="ko-KR" sz="1400" dirty="0">
                  <a:solidFill>
                    <a:schemeClr val="bg1">
                      <a:lumMod val="65000"/>
                    </a:schemeClr>
                  </a:solidFill>
                  <a:latin typeface="SamsungOne 400" panose="020B0503030303020204" pitchFamily="34" charset="0"/>
                  <a:ea typeface="SamsungOne 400" panose="020B0503030303020204" pitchFamily="34" charset="0"/>
                </a:rPr>
                <a:t>3.2</a:t>
              </a:r>
              <a:r>
                <a:rPr lang="en-US" altLang="ko-KR" sz="1400">
                  <a:solidFill>
                    <a:schemeClr val="bg1">
                      <a:lumMod val="65000"/>
                    </a:schemeClr>
                  </a:solidFill>
                  <a:latin typeface="SamsungOne 400" panose="020B0503030303020204" pitchFamily="34" charset="0"/>
                  <a:ea typeface="SamsungOne 400" panose="020B0503030303020204" pitchFamily="34" charset="0"/>
                </a:rPr>
                <a:t>. Latency–accuracy Pareto front and live demo</a:t>
              </a:r>
              <a:endParaRPr lang="en-US" altLang="ko-KR" sz="1400" dirty="0">
                <a:solidFill>
                  <a:schemeClr val="bg1">
                    <a:lumMod val="65000"/>
                  </a:schemeClr>
                </a:solidFill>
                <a:latin typeface="SamsungOne 400" panose="020B0503030303020204" pitchFamily="34" charset="0"/>
                <a:ea typeface="SamsungOne 400" panose="020B0503030303020204" pitchFamily="34" charset="0"/>
              </a:endParaRPr>
            </a:p>
            <a:p>
              <a:pPr>
                <a:spcAft>
                  <a:spcPts val="600"/>
                </a:spcAft>
              </a:pPr>
              <a:r>
                <a:rPr lang="en-US" altLang="ko-KR" sz="1400" dirty="0">
                  <a:solidFill>
                    <a:schemeClr val="bg1">
                      <a:lumMod val="65000"/>
                    </a:schemeClr>
                  </a:solidFill>
                  <a:latin typeface="SamsungOne 400" panose="020B0503030303020204" pitchFamily="34" charset="0"/>
                  <a:ea typeface="SamsungOne 400" panose="020B0503030303020204" pitchFamily="34" charset="0"/>
                </a:rPr>
                <a:t>3.3</a:t>
              </a:r>
              <a:r>
                <a:rPr lang="en-US" altLang="ko-KR" sz="1400">
                  <a:solidFill>
                    <a:schemeClr val="bg1">
                      <a:lumMod val="65000"/>
                    </a:schemeClr>
                  </a:solidFill>
                  <a:latin typeface="SamsungOne 400" panose="020B0503030303020204" pitchFamily="34" charset="0"/>
                  <a:ea typeface="SamsungOne 400" panose="020B0503030303020204" pitchFamily="34" charset="0"/>
                </a:rPr>
                <a:t>. Conclusions, outcomes and future work</a:t>
              </a:r>
              <a:endParaRPr lang="en-US" altLang="ko-KR" sz="1400" dirty="0">
                <a:solidFill>
                  <a:schemeClr val="bg1">
                    <a:lumMod val="65000"/>
                  </a:schemeClr>
                </a:solidFill>
                <a:latin typeface="SamsungOne 400" panose="020B0503030303020204" pitchFamily="34" charset="0"/>
                <a:ea typeface="SamsungOne 400" panose="020B0503030303020204" pitchFamily="34" charset="0"/>
              </a:endParaRPr>
            </a:p>
          </p:txBody>
        </p:sp>
      </p:grpSp>
      <p:sp>
        <p:nvSpPr>
          <p:cNvPr id="16" name="직사각형 133">
            <a:extLst>
              <a:ext uri="{FF2B5EF4-FFF2-40B4-BE49-F238E27FC236}">
                <a16:creationId xmlns:a16="http://schemas.microsoft.com/office/drawing/2014/main" id="{71B9AA9E-B863-4155-9637-87088D8ED43A}"/>
              </a:ext>
            </a:extLst>
          </p:cNvPr>
          <p:cNvSpPr/>
          <p:nvPr/>
        </p:nvSpPr>
        <p:spPr>
          <a:xfrm>
            <a:off x="710836" y="357668"/>
            <a:ext cx="8508320" cy="3693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/>
          <a:p>
            <a:r>
              <a:rPr lang="en-US" altLang="ko-KR" sz="2400">
                <a:solidFill>
                  <a:schemeClr val="bg1"/>
                </a:solidFill>
                <a:latin typeface="Samsung Sharp Sans" pitchFamily="2" charset="0"/>
                <a:ea typeface="Samsung Sharp Sans" pitchFamily="2" charset="0"/>
                <a:cs typeface="Samsung Sharp Sans" pitchFamily="2" charset="0"/>
              </a:rPr>
              <a:t>AG News Text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2106471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6547BD-7739-49E7-A1AB-5660D23FF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68" y="1440000"/>
            <a:ext cx="8759049" cy="984885"/>
          </a:xfrm>
        </p:spPr>
        <p:txBody>
          <a:bodyPr/>
          <a:lstStyle/>
          <a:p>
            <a:r>
              <a:rPr lang="en-US" altLang="ko-KR"/>
              <a:t>Why AG News, and why go beyond a single BERT score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8C115BB-982E-462D-A44C-030D3E23DAE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1.1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3D7A32-B228-4C31-A4C8-F46398C527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/>
              <a:t>Motivation and the 2025 NLP toolkit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B544C2-6ECF-4B3B-B28D-1B5551F72E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F17A5E5A-66EE-42B7-A47B-38D82A9818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UNIT</a:t>
            </a:r>
            <a:endParaRPr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5D7BE4A2-6816-4C15-8CC8-6EEF7E4F9A2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2288" y="2529575"/>
            <a:ext cx="8055439" cy="1041039"/>
          </a:xfrm>
        </p:spPr>
        <p:txBody>
          <a:bodyPr/>
          <a:lstStyle/>
          <a:p>
            <a:r>
              <a:rPr lang="en-US" altLang="ko-KR"/>
              <a:t>The problem</a:t>
            </a:r>
            <a:endParaRPr lang="en-US" altLang="ko-KR" dirty="0"/>
          </a:p>
          <a:p>
            <a:pPr lvl="1"/>
            <a:r>
              <a:rPr lang="en-US" altLang="ko-KR"/>
              <a:t>Topic classification of short news articles into 4 classes — World, Sports, Business, Sci/Tech (Zhang, Zhao &amp; LeCun [1]).</a:t>
            </a:r>
          </a:p>
          <a:p>
            <a:pPr lvl="1"/>
            <a:r>
              <a:rPr lang="en-US" altLang="ko-KR"/>
              <a:t>A single fine-tuned BERT already scores ~94 %; the open question is everything around accuracy.</a:t>
            </a:r>
            <a:endParaRPr lang="ko-KR" altLang="en-US" dirty="0"/>
          </a:p>
        </p:txBody>
      </p:sp>
      <p:sp>
        <p:nvSpPr>
          <p:cNvPr id="9" name="텍스트 개체 틀 6">
            <a:extLst>
              <a:ext uri="{FF2B5EF4-FFF2-40B4-BE49-F238E27FC236}">
                <a16:creationId xmlns:a16="http://schemas.microsoft.com/office/drawing/2014/main" id="{D48C9220-8226-230E-FEF1-AF500AF4FF15}"/>
              </a:ext>
            </a:extLst>
          </p:cNvPr>
          <p:cNvSpPr txBox="1">
            <a:spLocks/>
          </p:cNvSpPr>
          <p:nvPr/>
        </p:nvSpPr>
        <p:spPr>
          <a:xfrm>
            <a:off x="522288" y="3675304"/>
            <a:ext cx="8055439" cy="1041039"/>
          </a:xfrm>
          <a:prstGeom prst="rect">
            <a:avLst/>
          </a:prstGeom>
        </p:spPr>
        <p:txBody>
          <a:bodyPr lIns="0" tIns="0" rIns="0" bIns="0"/>
          <a:lstStyle>
            <a:lvl1pPr marL="177747" indent="-177747" algn="l" defTabSz="914126" rtl="0" eaLnBrk="1" latinLnBrk="1" hangingPunct="1">
              <a:lnSpc>
                <a:spcPts val="1800"/>
              </a:lnSpc>
              <a:spcBef>
                <a:spcPts val="1000"/>
              </a:spcBef>
              <a:buSzPct val="105000"/>
              <a:buFontTx/>
              <a:buBlip>
                <a:blip r:embed="rId2"/>
              </a:buBlip>
              <a:defRPr kumimoji="1" lang="en-US" altLang="ko-KR" sz="1400" kern="1200" smtClean="0">
                <a:solidFill>
                  <a:prstClr val="black">
                    <a:lumMod val="85000"/>
                    <a:lumOff val="15000"/>
                  </a:prstClr>
                </a:solidFill>
                <a:latin typeface="SamsungOne 400" panose="020B0503030303020204" pitchFamily="34" charset="0"/>
                <a:ea typeface="SamsungOne 400" panose="020B0503030303020204" pitchFamily="34" charset="0"/>
                <a:cs typeface="+mn-cs"/>
              </a:defRPr>
            </a:lvl1pPr>
            <a:lvl2pPr marL="360255" indent="-182508" algn="l" defTabSz="914126" rtl="0" eaLnBrk="1" latinLnBrk="1" hangingPunct="1">
              <a:lnSpc>
                <a:spcPts val="1800"/>
              </a:lnSpc>
              <a:spcBef>
                <a:spcPts val="500"/>
              </a:spcBef>
              <a:buSzPct val="80000"/>
              <a:buFontTx/>
              <a:buBlip>
                <a:blip r:embed="rId3"/>
              </a:buBlip>
              <a:tabLst>
                <a:tab pos="447541" algn="l"/>
              </a:tabLst>
              <a:defRPr lang="en-US" altLang="ko-KR" sz="1300" kern="1200" dirty="0" smtClean="0">
                <a:solidFill>
                  <a:prstClr val="black">
                    <a:lumMod val="85000"/>
                    <a:lumOff val="15000"/>
                  </a:prstClr>
                </a:solidFill>
                <a:latin typeface="SamsungOne 400" panose="020B0503030303020204" pitchFamily="34" charset="0"/>
                <a:ea typeface="SamsungOne 400" panose="020B0503030303020204" pitchFamily="34" charset="0"/>
                <a:cs typeface="+mn-cs"/>
              </a:defRPr>
            </a:lvl2pPr>
            <a:lvl3pPr marL="1142657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The gap this project fills</a:t>
            </a:r>
          </a:p>
          <a:p>
            <a:pPr lvl="1"/>
            <a:r>
              <a:rPr lang="en-US"/>
              <a:t>One repository exercising the full modern stack — robustness, calibration, explainability, data efficiency, latency, multilinguality.</a:t>
            </a:r>
          </a:p>
          <a:p>
            <a:pPr lvl="1"/>
            <a:r>
              <a:rPr lang="en-US"/>
              <a:t>Reproducible, auditable, and deployment-aware, not a notebook.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080462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A604F-4520-80DB-7C88-F0473ACAB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BEFE3C-605C-A1BF-66A1-7855E8679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68" y="1440000"/>
            <a:ext cx="8541187" cy="984885"/>
          </a:xfrm>
        </p:spPr>
        <p:txBody>
          <a:bodyPr/>
          <a:lstStyle/>
          <a:p>
            <a:r>
              <a:rPr lang="en-US" altLang="ko-KR"/>
              <a:t>Eight objectives, eight measurable targets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3273977-05B9-1E8E-89B4-F9E17564BD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1.2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76520E6-2B70-870E-40E1-5AD77D3D805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/>
              <a:t>Objectives O1–O8 and success metrics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BDAB764-DAF2-6B8E-16F7-E03799CC0FB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7B6768F3-8111-395E-E6A4-F79D13203E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UNIT</a:t>
            </a:r>
            <a:endParaRPr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F7600CC-DD36-BFDC-59DB-935DA2F335F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2288" y="2566902"/>
            <a:ext cx="8055439" cy="1062705"/>
          </a:xfrm>
        </p:spPr>
        <p:txBody>
          <a:bodyPr/>
          <a:lstStyle/>
          <a:p>
            <a:r>
              <a:rPr lang="en-US" altLang="ko-KR"/>
              <a:t>Outcome — 6 of 8 objectives met</a:t>
            </a:r>
            <a:endParaRPr lang="en-US" altLang="ko-KR" dirty="0"/>
          </a:p>
          <a:p>
            <a:pPr lvl="1"/>
            <a:r>
              <a:rPr lang="en-US" altLang="ko-KR"/>
              <a:t>O1 English F1 ≥ 0.95 → </a:t>
            </a:r>
            <a:r>
              <a:rPr lang="en-US" altLang="ko-KR" b="1"/>
              <a:t>0.9528</a:t>
            </a:r>
            <a:r>
              <a:rPr lang="en-US" altLang="ko-KR"/>
              <a:t> (met); O3 Vietnamese ≥ 0.90 → </a:t>
            </a:r>
            <a:r>
              <a:rPr lang="en-US" altLang="ko-KR" b="1"/>
              <a:t>0.9041</a:t>
            </a:r>
            <a:r>
              <a:rPr lang="en-US" altLang="ko-KR"/>
              <a:t> (met); O8 French ≥ 0.90 → </a:t>
            </a:r>
            <a:r>
              <a:rPr lang="en-US" altLang="ko-KR" b="1"/>
              <a:t>0.9466</a:t>
            </a:r>
            <a:r>
              <a:rPr lang="en-US" altLang="ko-KR"/>
              <a:t> (met).</a:t>
            </a:r>
          </a:p>
          <a:p>
            <a:pPr lvl="1"/>
            <a:r>
              <a:rPr lang="en-US" altLang="ko-KR"/>
              <a:t>O4 ECE ≤ 0.03 → </a:t>
            </a:r>
            <a:r>
              <a:rPr lang="en-US" altLang="ko-KR" b="1"/>
              <a:t>0.0285</a:t>
            </a:r>
            <a:r>
              <a:rPr lang="en-US" altLang="ko-KR"/>
              <a:t> (met); O6 public GitHub 200 OK (met); O7 SIC report submitted (met).</a:t>
            </a:r>
            <a:endParaRPr lang="ko-KR" altLang="en-US" dirty="0"/>
          </a:p>
        </p:txBody>
      </p:sp>
      <p:sp>
        <p:nvSpPr>
          <p:cNvPr id="9" name="텍스트 개체 틀 6">
            <a:extLst>
              <a:ext uri="{FF2B5EF4-FFF2-40B4-BE49-F238E27FC236}">
                <a16:creationId xmlns:a16="http://schemas.microsoft.com/office/drawing/2014/main" id="{C39EA4B7-5382-561D-6AD1-93FA68A2DA11}"/>
              </a:ext>
            </a:extLst>
          </p:cNvPr>
          <p:cNvSpPr txBox="1">
            <a:spLocks/>
          </p:cNvSpPr>
          <p:nvPr/>
        </p:nvSpPr>
        <p:spPr>
          <a:xfrm>
            <a:off x="522288" y="3771625"/>
            <a:ext cx="8055439" cy="837698"/>
          </a:xfrm>
          <a:prstGeom prst="rect">
            <a:avLst/>
          </a:prstGeom>
        </p:spPr>
        <p:txBody>
          <a:bodyPr lIns="0" tIns="0" rIns="0" bIns="0"/>
          <a:lstStyle>
            <a:lvl1pPr marL="177747" indent="-177747" algn="l" defTabSz="914126" rtl="0" eaLnBrk="1" latinLnBrk="1" hangingPunct="1">
              <a:lnSpc>
                <a:spcPts val="1800"/>
              </a:lnSpc>
              <a:spcBef>
                <a:spcPts val="1000"/>
              </a:spcBef>
              <a:buSzPct val="105000"/>
              <a:buFontTx/>
              <a:buBlip>
                <a:blip r:embed="rId2"/>
              </a:buBlip>
              <a:defRPr kumimoji="1" lang="en-US" altLang="ko-KR" sz="1400" kern="1200" smtClean="0">
                <a:solidFill>
                  <a:prstClr val="black">
                    <a:lumMod val="85000"/>
                    <a:lumOff val="15000"/>
                  </a:prstClr>
                </a:solidFill>
                <a:latin typeface="SamsungOne 400" panose="020B0503030303020204" pitchFamily="34" charset="0"/>
                <a:ea typeface="SamsungOne 400" panose="020B0503030303020204" pitchFamily="34" charset="0"/>
                <a:cs typeface="+mn-cs"/>
              </a:defRPr>
            </a:lvl1pPr>
            <a:lvl2pPr marL="360255" indent="-182508" algn="l" defTabSz="914126" rtl="0" eaLnBrk="1" latinLnBrk="1" hangingPunct="1">
              <a:lnSpc>
                <a:spcPts val="1800"/>
              </a:lnSpc>
              <a:spcBef>
                <a:spcPts val="500"/>
              </a:spcBef>
              <a:buSzPct val="80000"/>
              <a:buFontTx/>
              <a:buBlip>
                <a:blip r:embed="rId3"/>
              </a:buBlip>
              <a:tabLst>
                <a:tab pos="447541" algn="l"/>
              </a:tabLst>
              <a:defRPr lang="en-US" altLang="ko-KR" sz="1300" kern="1200" dirty="0" smtClean="0">
                <a:solidFill>
                  <a:prstClr val="black">
                    <a:lumMod val="85000"/>
                    <a:lumOff val="15000"/>
                  </a:prstClr>
                </a:solidFill>
                <a:latin typeface="SamsungOne 400" panose="020B0503030303020204" pitchFamily="34" charset="0"/>
                <a:ea typeface="SamsungOne 400" panose="020B0503030303020204" pitchFamily="34" charset="0"/>
                <a:cs typeface="+mn-cs"/>
              </a:defRPr>
            </a:lvl2pPr>
            <a:lvl3pPr marL="1142657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The two honest misses</a:t>
            </a:r>
          </a:p>
          <a:p>
            <a:pPr lvl="1"/>
            <a:r>
              <a:rPr lang="en-US"/>
              <a:t>O2/S2 SetFit @64 ≥ 0.93 → 0.8755 (not met).</a:t>
            </a:r>
          </a:p>
          <a:p>
            <a:pPr lvl="1"/>
            <a:r>
              <a:rPr lang="en-US"/>
              <a:t>O5 latency ≤ 50 ms CPU @batch 1 → 290 ms (not met, hardware-bounded — reported transparently).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587149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AC358-42F1-AB45-9398-2C53C6A49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BD035C-0730-81D0-6BDE-F230739B9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68" y="1440000"/>
            <a:ext cx="8541187" cy="984885"/>
          </a:xfrm>
        </p:spPr>
        <p:txBody>
          <a:bodyPr/>
          <a:lstStyle/>
          <a:p>
            <a:r>
              <a:rPr lang="en-US" altLang="ko-KR"/>
              <a:t>A clean dataset and a linear, reproducible plan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E3D6212-7826-70D9-DC56-E7F46F21507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1.3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E626DF0-6431-F73A-4895-EEFF32179E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/>
              <a:t>Dataset, EDA and nine-phase pipeline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0B75C3F-5919-8C72-9B1F-ABE9F3841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0FA59287-EA86-DB8F-6ED1-9094AC2D026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UNIT</a:t>
            </a:r>
            <a:endParaRPr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8A7C6C7-420B-F813-6A39-8199D8F334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2288" y="2650876"/>
            <a:ext cx="4429124" cy="1455525"/>
          </a:xfrm>
        </p:spPr>
        <p:txBody>
          <a:bodyPr/>
          <a:lstStyle/>
          <a:p>
            <a:pPr algn="just"/>
            <a:r>
              <a:rPr lang="en-US" altLang="ko-KR"/>
              <a:t>Dataset and EDA</a:t>
            </a:r>
            <a:endParaRPr lang="en-US" altLang="ko-KR" dirty="0"/>
          </a:p>
          <a:p>
            <a:pPr lvl="1" algn="just"/>
            <a:r>
              <a:rPr lang="en-US" altLang="ko-KR"/>
              <a:t>120,000 train / 7,600 test; stratified 90/10 → 108k train / 12k val; test touched only for final reporting.</a:t>
            </a:r>
          </a:p>
          <a:p>
            <a:pPr lvl="1" algn="just"/>
            <a:r>
              <a:rPr lang="en-US" altLang="ko-KR"/>
              <a:t>Balanced classes; Cleanlab flags 2,852 (2.6 %) likely mislabels, mostly on the Business ↔ Sci/Tech boundary; BERTopic for topic structure.</a:t>
            </a:r>
            <a:endParaRPr lang="ko-KR" altLang="en-US" dirty="0"/>
          </a:p>
        </p:txBody>
      </p:sp>
      <p:pic>
        <p:nvPicPr>
          <p:cNvPr id="1026" name="Picture 2" descr="Class distribution">
            <a:extLst>
              <a:ext uri="{FF2B5EF4-FFF2-40B4-BE49-F238E27FC236}">
                <a16:creationId xmlns:a16="http://schemas.microsoft.com/office/drawing/2014/main" id="{E701D19F-218A-D5B8-DF1D-74DF4EDEE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5459" y="2656964"/>
            <a:ext cx="1981089" cy="1188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텍스트 개체 틀 6">
            <a:extLst>
              <a:ext uri="{FF2B5EF4-FFF2-40B4-BE49-F238E27FC236}">
                <a16:creationId xmlns:a16="http://schemas.microsoft.com/office/drawing/2014/main" id="{EC3E9912-8C23-748D-0A4C-31F732AC1DC3}"/>
              </a:ext>
            </a:extLst>
          </p:cNvPr>
          <p:cNvSpPr txBox="1">
            <a:spLocks/>
          </p:cNvSpPr>
          <p:nvPr/>
        </p:nvSpPr>
        <p:spPr>
          <a:xfrm>
            <a:off x="522288" y="4442355"/>
            <a:ext cx="4429124" cy="1455525"/>
          </a:xfrm>
          <a:prstGeom prst="rect">
            <a:avLst/>
          </a:prstGeom>
        </p:spPr>
        <p:txBody>
          <a:bodyPr lIns="0" tIns="0" rIns="0" bIns="0"/>
          <a:lstStyle>
            <a:lvl1pPr marL="177747" indent="-177747" algn="l" defTabSz="914126" rtl="0" eaLnBrk="1" latinLnBrk="1" hangingPunct="1">
              <a:lnSpc>
                <a:spcPts val="1800"/>
              </a:lnSpc>
              <a:spcBef>
                <a:spcPts val="1000"/>
              </a:spcBef>
              <a:buSzPct val="105000"/>
              <a:buFontTx/>
              <a:buBlip>
                <a:blip r:embed="rId3"/>
              </a:buBlip>
              <a:defRPr kumimoji="1" lang="en-US" altLang="ko-KR" sz="1400" kern="1200" smtClean="0">
                <a:solidFill>
                  <a:prstClr val="black">
                    <a:lumMod val="85000"/>
                    <a:lumOff val="15000"/>
                  </a:prstClr>
                </a:solidFill>
                <a:latin typeface="SamsungOne 400" panose="020B0503030303020204" pitchFamily="34" charset="0"/>
                <a:ea typeface="SamsungOne 400" panose="020B0503030303020204" pitchFamily="34" charset="0"/>
                <a:cs typeface="+mn-cs"/>
              </a:defRPr>
            </a:lvl1pPr>
            <a:lvl2pPr marL="360255" indent="-182508" algn="l" defTabSz="914126" rtl="0" eaLnBrk="1" latinLnBrk="1" hangingPunct="1">
              <a:lnSpc>
                <a:spcPts val="1800"/>
              </a:lnSpc>
              <a:spcBef>
                <a:spcPts val="500"/>
              </a:spcBef>
              <a:buSzPct val="80000"/>
              <a:buFontTx/>
              <a:buBlip>
                <a:blip r:embed="rId4"/>
              </a:buBlip>
              <a:tabLst>
                <a:tab pos="447541" algn="l"/>
              </a:tabLst>
              <a:defRPr lang="en-US" altLang="ko-KR" sz="1300" kern="1200" dirty="0" smtClean="0">
                <a:solidFill>
                  <a:prstClr val="black">
                    <a:lumMod val="85000"/>
                    <a:lumOff val="15000"/>
                  </a:prstClr>
                </a:solidFill>
                <a:latin typeface="SamsungOne 400" panose="020B0503030303020204" pitchFamily="34" charset="0"/>
                <a:ea typeface="SamsungOne 400" panose="020B0503030303020204" pitchFamily="34" charset="0"/>
                <a:cs typeface="+mn-cs"/>
              </a:defRPr>
            </a:lvl2pPr>
            <a:lvl3pPr marL="1142657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/>
              <a:t>Nine-phase, 76-day pipeline</a:t>
            </a:r>
          </a:p>
          <a:p>
            <a:pPr lvl="1" algn="just"/>
            <a:r>
              <a:rPr lang="en-US"/>
              <a:t>Data → baselines → transformers → multilingual → few-shot → evaluation → deployment → report; each phase = one runnable </a:t>
            </a:r>
            <a:r>
              <a:rPr lang="en-US">
                <a:highlight>
                  <a:srgbClr val="C0C0C0"/>
                </a:highlight>
              </a:rPr>
              <a:t>scripts/phase{N}.py</a:t>
            </a:r>
            <a:r>
              <a:rPr lang="en-US"/>
              <a:t>.</a:t>
            </a:r>
          </a:p>
          <a:p>
            <a:pPr lvl="1" algn="just"/>
            <a:r>
              <a:rPr lang="en-US"/>
              <a:t>Every output under </a:t>
            </a:r>
            <a:r>
              <a:rPr lang="en-US">
                <a:highlight>
                  <a:srgbClr val="C0C0C0"/>
                </a:highlight>
              </a:rPr>
              <a:t>outputs/</a:t>
            </a:r>
            <a:r>
              <a:rPr lang="en-US"/>
              <a:t>, every input under </a:t>
            </a:r>
            <a:r>
              <a:rPr lang="en-US">
                <a:highlight>
                  <a:srgbClr val="C0C0C0"/>
                </a:highlight>
              </a:rPr>
              <a:t>configs/</a:t>
            </a:r>
            <a:r>
              <a:rPr lang="en-US"/>
              <a:t> — no implicit state.</a:t>
            </a:r>
            <a:endParaRPr lang="en-US" altLang="ko-KR"/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C1D0E30F-84E5-29DB-B9E6-8E3A3EF57C04}"/>
              </a:ext>
            </a:extLst>
          </p:cNvPr>
          <p:cNvSpPr txBox="1">
            <a:spLocks/>
          </p:cNvSpPr>
          <p:nvPr/>
        </p:nvSpPr>
        <p:spPr>
          <a:xfrm>
            <a:off x="5714753" y="3935824"/>
            <a:ext cx="3814889" cy="169277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lvl1pPr algn="l" defTabSz="914126" rtl="0" eaLnBrk="1" latinLnBrk="1" hangingPunct="1">
              <a:lnSpc>
                <a:spcPct val="100000"/>
              </a:lnSpc>
              <a:spcBef>
                <a:spcPts val="0"/>
              </a:spcBef>
              <a:buNone/>
              <a:defRPr lang="ko-KR" altLang="en-US" sz="3200" kern="1200">
                <a:solidFill>
                  <a:schemeClr val="tx1">
                    <a:lumMod val="95000"/>
                    <a:lumOff val="5000"/>
                  </a:schemeClr>
                </a:solidFill>
                <a:latin typeface="Samsung Sharp Sans" pitchFamily="2" charset="0"/>
                <a:ea typeface="Samsung Sharp Sans" pitchFamily="2" charset="0"/>
                <a:cs typeface="Samsung Sharp Sans" pitchFamily="2" charset="0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altLang="ko-KR" sz="1100"/>
              <a:t>Figure: Four classes, perfectly balanced (30,000 each)</a:t>
            </a:r>
          </a:p>
        </p:txBody>
      </p:sp>
      <p:pic>
        <p:nvPicPr>
          <p:cNvPr id="1028" name="Picture 4" descr="Text-length histogram">
            <a:extLst>
              <a:ext uri="{FF2B5EF4-FFF2-40B4-BE49-F238E27FC236}">
                <a16:creationId xmlns:a16="http://schemas.microsoft.com/office/drawing/2014/main" id="{B112C801-61F9-784E-96AB-E58F340F62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4043" y="4442355"/>
            <a:ext cx="1676307" cy="1005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제목 1">
            <a:extLst>
              <a:ext uri="{FF2B5EF4-FFF2-40B4-BE49-F238E27FC236}">
                <a16:creationId xmlns:a16="http://schemas.microsoft.com/office/drawing/2014/main" id="{4DD176CE-103C-A877-F6F0-ACF9D74F1B49}"/>
              </a:ext>
            </a:extLst>
          </p:cNvPr>
          <p:cNvSpPr txBox="1">
            <a:spLocks/>
          </p:cNvSpPr>
          <p:nvPr/>
        </p:nvSpPr>
        <p:spPr>
          <a:xfrm>
            <a:off x="5638558" y="5559326"/>
            <a:ext cx="3814889" cy="338554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lvl1pPr algn="l" defTabSz="914126" rtl="0" eaLnBrk="1" latinLnBrk="1" hangingPunct="1">
              <a:lnSpc>
                <a:spcPct val="100000"/>
              </a:lnSpc>
              <a:spcBef>
                <a:spcPts val="0"/>
              </a:spcBef>
              <a:buNone/>
              <a:defRPr lang="ko-KR" altLang="en-US" sz="3200" kern="1200">
                <a:solidFill>
                  <a:schemeClr val="tx1">
                    <a:lumMod val="95000"/>
                    <a:lumOff val="5000"/>
                  </a:schemeClr>
                </a:solidFill>
                <a:latin typeface="Samsung Sharp Sans" pitchFamily="2" charset="0"/>
                <a:ea typeface="Samsung Sharp Sans" pitchFamily="2" charset="0"/>
                <a:cs typeface="Samsung Sharp Sans" pitchFamily="2" charset="0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altLang="ko-KR" sz="1100"/>
              <a:t>Figure: Median 38 words; 99th percentile ≈ 80 → max</a:t>
            </a:r>
            <a:r>
              <a:rPr lang="en-US" altLang="ko-KR" sz="1100">
                <a:latin typeface="Times New Roman" panose="02020603050405020304" pitchFamily="18" charset="0"/>
                <a:cs typeface="Times New Roman" panose="02020603050405020304" pitchFamily="18" charset="0"/>
              </a:rPr>
              <a:t>_</a:t>
            </a:r>
            <a:r>
              <a:rPr lang="en-US" altLang="ko-KR" sz="1100"/>
              <a:t>len 256</a:t>
            </a:r>
          </a:p>
        </p:txBody>
      </p:sp>
    </p:spTree>
    <p:extLst>
      <p:ext uri="{BB962C8B-B14F-4D97-AF65-F5344CB8AC3E}">
        <p14:creationId xmlns:p14="http://schemas.microsoft.com/office/powerpoint/2010/main" val="18279371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96B55-684A-E703-9E2E-E7E7B5389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D23C53-A4E0-841D-1A41-6097BA382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68" y="1440000"/>
            <a:ext cx="8541187" cy="984885"/>
          </a:xfrm>
        </p:spPr>
        <p:txBody>
          <a:bodyPr/>
          <a:lstStyle/>
          <a:p>
            <a:r>
              <a:rPr lang="en-US" altLang="en-US"/>
              <a:t>Establishing the reference point, then        scaling up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8D47E87-F81A-AA2F-930D-648E6C2D96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2.1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1EAD54D-189A-B29A-5B08-FD1525A0D8A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90000" y="450001"/>
            <a:ext cx="6837808" cy="276871"/>
          </a:xfrm>
        </p:spPr>
        <p:txBody>
          <a:bodyPr/>
          <a:lstStyle/>
          <a:p>
            <a:r>
              <a:rPr lang="en-US" altLang="en-US" b="1"/>
              <a:t>Classical </a:t>
            </a:r>
            <a:r>
              <a:rPr lang="en-US" altLang="en-US" b="1" dirty="0"/>
              <a:t>baselines and transformer </a:t>
            </a:r>
            <a:r>
              <a:rPr lang="en-US" altLang="en-US" b="1"/>
              <a:t>scale ablation</a:t>
            </a:r>
            <a:endParaRPr lang="en-US" altLang="en-US" b="1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299745-E9B8-9C59-8293-5BAF8574D6B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/>
              <a:t>02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55DCEE88-EF70-FEDA-E7B8-0ECCAA245EA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UNIT</a:t>
            </a:r>
            <a:endParaRPr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136E385D-C605-D6CB-84D6-2C915064B26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2288" y="2650877"/>
            <a:ext cx="8055439" cy="572383"/>
          </a:xfrm>
        </p:spPr>
        <p:txBody>
          <a:bodyPr/>
          <a:lstStyle/>
          <a:p>
            <a:r>
              <a:rPr lang="en-US" altLang="ko-KR"/>
              <a:t>Classical baselines (the sanity check, F1-macro)</a:t>
            </a:r>
            <a:endParaRPr lang="en-US" altLang="ko-KR" dirty="0"/>
          </a:p>
          <a:p>
            <a:pPr lvl="1"/>
            <a:r>
              <a:rPr lang="en-US" altLang="ko-KR" dirty="0"/>
              <a:t>TF-IDF + Linear SVM </a:t>
            </a:r>
            <a:r>
              <a:rPr lang="en-US" altLang="ko-KR" b="1" dirty="0"/>
              <a:t>92.54 %</a:t>
            </a:r>
            <a:r>
              <a:rPr lang="en-US" altLang="ko-KR" dirty="0"/>
              <a:t>, TF-IDF + LogReg 91.64 %, FastText 91.70 % (~2.5 min total, CPU).</a:t>
            </a:r>
            <a:endParaRPr lang="ko-KR" altLang="en-US" dirty="0"/>
          </a:p>
        </p:txBody>
      </p:sp>
      <p:sp>
        <p:nvSpPr>
          <p:cNvPr id="8" name="텍스트 개체 틀 6">
            <a:extLst>
              <a:ext uri="{FF2B5EF4-FFF2-40B4-BE49-F238E27FC236}">
                <a16:creationId xmlns:a16="http://schemas.microsoft.com/office/drawing/2014/main" id="{4E991629-792D-9A94-B864-220198D9A820}"/>
              </a:ext>
            </a:extLst>
          </p:cNvPr>
          <p:cNvSpPr txBox="1">
            <a:spLocks/>
          </p:cNvSpPr>
          <p:nvPr/>
        </p:nvSpPr>
        <p:spPr>
          <a:xfrm>
            <a:off x="522288" y="3449252"/>
            <a:ext cx="8055439" cy="1336108"/>
          </a:xfrm>
          <a:prstGeom prst="rect">
            <a:avLst/>
          </a:prstGeom>
        </p:spPr>
        <p:txBody>
          <a:bodyPr lIns="0" tIns="0" rIns="0" bIns="0"/>
          <a:lstStyle>
            <a:lvl1pPr marL="177747" indent="-177747" algn="l" defTabSz="914126" rtl="0" eaLnBrk="1" latinLnBrk="1" hangingPunct="1">
              <a:lnSpc>
                <a:spcPts val="1800"/>
              </a:lnSpc>
              <a:spcBef>
                <a:spcPts val="1000"/>
              </a:spcBef>
              <a:buSzPct val="105000"/>
              <a:buFontTx/>
              <a:buBlip>
                <a:blip r:embed="rId2"/>
              </a:buBlip>
              <a:defRPr kumimoji="1" lang="en-US" altLang="ko-KR" sz="1400" kern="1200" smtClean="0">
                <a:solidFill>
                  <a:prstClr val="black">
                    <a:lumMod val="85000"/>
                    <a:lumOff val="15000"/>
                  </a:prstClr>
                </a:solidFill>
                <a:latin typeface="SamsungOne 400" panose="020B0503030303020204" pitchFamily="34" charset="0"/>
                <a:ea typeface="SamsungOne 400" panose="020B0503030303020204" pitchFamily="34" charset="0"/>
                <a:cs typeface="+mn-cs"/>
              </a:defRPr>
            </a:lvl1pPr>
            <a:lvl2pPr marL="360255" indent="-182508" algn="l" defTabSz="914126" rtl="0" eaLnBrk="1" latinLnBrk="1" hangingPunct="1">
              <a:lnSpc>
                <a:spcPts val="1800"/>
              </a:lnSpc>
              <a:spcBef>
                <a:spcPts val="500"/>
              </a:spcBef>
              <a:buSzPct val="80000"/>
              <a:buFontTx/>
              <a:buBlip>
                <a:blip r:embed="rId3"/>
              </a:buBlip>
              <a:tabLst>
                <a:tab pos="447541" algn="l"/>
              </a:tabLst>
              <a:defRPr lang="en-US" altLang="ko-KR" sz="1300" kern="1200" dirty="0" smtClean="0">
                <a:solidFill>
                  <a:prstClr val="black">
                    <a:lumMod val="85000"/>
                    <a:lumOff val="15000"/>
                  </a:prstClr>
                </a:solidFill>
                <a:latin typeface="SamsungOne 400" panose="020B0503030303020204" pitchFamily="34" charset="0"/>
                <a:ea typeface="SamsungOne 400" panose="020B0503030303020204" pitchFamily="34" charset="0"/>
                <a:cs typeface="+mn-cs"/>
              </a:defRPr>
            </a:lvl2pPr>
            <a:lvl3pPr marL="1142657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/>
              <a:t>Transformer scale ablation (English, F1-macro)</a:t>
            </a:r>
            <a:endParaRPr lang="en-US"/>
          </a:p>
          <a:p>
            <a:pPr lvl="1"/>
            <a:r>
              <a:rPr lang="en-US" altLang="ko-KR"/>
              <a:t>DeBERTa-v3-small </a:t>
            </a:r>
            <a:r>
              <a:rPr lang="en-US" altLang="ko-KR" dirty="0"/>
              <a:t>94.63 % (44 M) → ModernBERT-base 94.71 % (149 M) → DeBERTa-v3-base 94.93 % (184 M) → ModernBERT-large 94.98 % (395 </a:t>
            </a:r>
            <a:r>
              <a:rPr lang="en-US" altLang="ko-KR"/>
              <a:t>M).</a:t>
            </a:r>
          </a:p>
          <a:p>
            <a:pPr lvl="1"/>
            <a:r>
              <a:rPr lang="en-US" altLang="ko-KR" dirty="0"/>
              <a:t>Strong encoders beat the best classical baseline by 2.44 pp — but a single checkpoint still sits 0.02 pp below the 0.95 target.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3966411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EA10F-397E-7496-8055-71A151AD6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4D56DC-DAE0-33A3-7639-F36DCF4EA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68" y="1440000"/>
            <a:ext cx="8541187" cy="492443"/>
          </a:xfrm>
        </p:spPr>
        <p:txBody>
          <a:bodyPr/>
          <a:lstStyle/>
          <a:p>
            <a:r>
              <a:rPr lang="en-US" altLang="en-US"/>
              <a:t>Closing the last 0.3 pp to meet O1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D5A8527-3EAB-1E7D-A33B-96E202E6B84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2.2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4121DBE-A231-2794-AE58-1FE3C83E31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90000" y="450001"/>
            <a:ext cx="6837808" cy="276871"/>
          </a:xfrm>
        </p:spPr>
        <p:txBody>
          <a:bodyPr/>
          <a:lstStyle/>
          <a:p>
            <a:r>
              <a:rPr lang="en-US" altLang="en-US" b="1"/>
              <a:t>Variance </a:t>
            </a:r>
            <a:r>
              <a:rPr lang="en-US" altLang="en-US" b="1" dirty="0"/>
              <a:t>reduction: R-Drop + </a:t>
            </a:r>
            <a:r>
              <a:rPr lang="en-US" altLang="en-US" b="1"/>
              <a:t>3-seed ensemble</a:t>
            </a:r>
            <a:endParaRPr lang="en-US" altLang="en-US" b="1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621F84C-5936-C878-2B6D-B619480022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/>
              <a:t>02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C1D1A797-27B9-CE4B-7268-F4061062BE9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UNIT</a:t>
            </a:r>
            <a:endParaRPr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F9060E08-804B-B5A4-8517-A2D517502EC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2288" y="2140337"/>
            <a:ext cx="8055439" cy="1051172"/>
          </a:xfrm>
        </p:spPr>
        <p:txBody>
          <a:bodyPr/>
          <a:lstStyle/>
          <a:p>
            <a:r>
              <a:rPr lang="en-US" altLang="ko-KR"/>
              <a:t>The method</a:t>
            </a:r>
            <a:endParaRPr lang="en-US" altLang="ko-KR" dirty="0"/>
          </a:p>
          <a:p>
            <a:pPr lvl="1"/>
            <a:r>
              <a:rPr lang="en-US" altLang="ko-KR" dirty="0"/>
              <a:t>2×3 ablation grid: {vanilla, +R-Drop} × seeds {13, 42, 73} on </a:t>
            </a:r>
            <a:r>
              <a:rPr lang="en-US" altLang="ko-KR"/>
              <a:t>ModernBERT-large.</a:t>
            </a:r>
          </a:p>
          <a:p>
            <a:pPr lvl="1"/>
            <a:r>
              <a:rPr lang="en-US" altLang="ko-KR" dirty="0"/>
              <a:t>R-Drop adds symmetric KL between two stochastic forward passes (Liang et al. [9]); checkpoints combined by soft-voting (Dietterich [10]).</a:t>
            </a:r>
            <a:endParaRPr lang="ko-KR" altLang="en-US" dirty="0"/>
          </a:p>
        </p:txBody>
      </p:sp>
      <p:sp>
        <p:nvSpPr>
          <p:cNvPr id="8" name="텍스트 개체 틀 6">
            <a:extLst>
              <a:ext uri="{FF2B5EF4-FFF2-40B4-BE49-F238E27FC236}">
                <a16:creationId xmlns:a16="http://schemas.microsoft.com/office/drawing/2014/main" id="{8F5B5E87-66E3-4E1E-7700-7D5E7FB5540B}"/>
              </a:ext>
            </a:extLst>
          </p:cNvPr>
          <p:cNvSpPr txBox="1">
            <a:spLocks/>
          </p:cNvSpPr>
          <p:nvPr/>
        </p:nvSpPr>
        <p:spPr>
          <a:xfrm>
            <a:off x="522287" y="3399402"/>
            <a:ext cx="8055439" cy="1051171"/>
          </a:xfrm>
          <a:prstGeom prst="rect">
            <a:avLst/>
          </a:prstGeom>
        </p:spPr>
        <p:txBody>
          <a:bodyPr lIns="0" tIns="0" rIns="0" bIns="0"/>
          <a:lstStyle>
            <a:lvl1pPr marL="177747" indent="-177747" algn="l" defTabSz="914126" rtl="0" eaLnBrk="1" latinLnBrk="1" hangingPunct="1">
              <a:lnSpc>
                <a:spcPts val="1800"/>
              </a:lnSpc>
              <a:spcBef>
                <a:spcPts val="1000"/>
              </a:spcBef>
              <a:buSzPct val="105000"/>
              <a:buFontTx/>
              <a:buBlip>
                <a:blip r:embed="rId2"/>
              </a:buBlip>
              <a:defRPr kumimoji="1" lang="en-US" altLang="ko-KR" sz="1400" kern="1200" smtClean="0">
                <a:solidFill>
                  <a:prstClr val="black">
                    <a:lumMod val="85000"/>
                    <a:lumOff val="15000"/>
                  </a:prstClr>
                </a:solidFill>
                <a:latin typeface="SamsungOne 400" panose="020B0503030303020204" pitchFamily="34" charset="0"/>
                <a:ea typeface="SamsungOne 400" panose="020B0503030303020204" pitchFamily="34" charset="0"/>
                <a:cs typeface="+mn-cs"/>
              </a:defRPr>
            </a:lvl1pPr>
            <a:lvl2pPr marL="360255" indent="-182508" algn="l" defTabSz="914126" rtl="0" eaLnBrk="1" latinLnBrk="1" hangingPunct="1">
              <a:lnSpc>
                <a:spcPts val="1800"/>
              </a:lnSpc>
              <a:spcBef>
                <a:spcPts val="500"/>
              </a:spcBef>
              <a:buSzPct val="80000"/>
              <a:buFontTx/>
              <a:buBlip>
                <a:blip r:embed="rId3"/>
              </a:buBlip>
              <a:tabLst>
                <a:tab pos="447541" algn="l"/>
              </a:tabLst>
              <a:defRPr lang="en-US" altLang="ko-KR" sz="1300" kern="1200" dirty="0" smtClean="0">
                <a:solidFill>
                  <a:prstClr val="black">
                    <a:lumMod val="85000"/>
                    <a:lumOff val="15000"/>
                  </a:prstClr>
                </a:solidFill>
                <a:latin typeface="SamsungOne 400" panose="020B0503030303020204" pitchFamily="34" charset="0"/>
                <a:ea typeface="SamsungOne 400" panose="020B0503030303020204" pitchFamily="34" charset="0"/>
                <a:cs typeface="+mn-cs"/>
              </a:defRPr>
            </a:lvl2pPr>
            <a:lvl3pPr marL="1142657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The method</a:t>
            </a:r>
          </a:p>
          <a:p>
            <a:pPr lvl="1"/>
            <a:r>
              <a:rPr lang="en-US" altLang="ko-KR" b="1" dirty="0"/>
              <a:t>R-Drop 3-seed ensemble = 0.9528 F1-macro</a:t>
            </a:r>
            <a:r>
              <a:rPr lang="en-US" altLang="ko-KR" dirty="0"/>
              <a:t> — meets O1 by +0.28 pp over </a:t>
            </a:r>
            <a:r>
              <a:rPr lang="en-US" altLang="ko-KR"/>
              <a:t>target.</a:t>
            </a:r>
          </a:p>
          <a:p>
            <a:pPr lvl="1"/>
            <a:r>
              <a:rPr lang="en-US" altLang="ko-KR" dirty="0"/>
              <a:t>Honesty caveat: N=3 seeds → the F-test / paired t-test for variance and mean gains are underpowered (Section 3.3.2.5).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906138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6A961-6161-E751-63E9-7A64CB586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F180B7-F654-AABA-A373-E47B89F76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68" y="1440000"/>
            <a:ext cx="8541187" cy="984885"/>
          </a:xfrm>
        </p:spPr>
        <p:txBody>
          <a:bodyPr/>
          <a:lstStyle/>
          <a:p>
            <a:r>
              <a:rPr lang="en-US" altLang="en-US"/>
              <a:t>Three languages and a data-efficiency    curve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AA4B2C2-DC53-FAFD-150A-E4F622B451D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2.3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9D6389-0C2B-5DF3-219F-F22F7CF9DB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en-US" b="1" dirty="0"/>
              <a:t>Multilingual extension and few-shot SetFit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34D5181-3010-031F-FD83-12D2BF57882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/>
              <a:t>02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4E992488-FDA0-A592-D9DA-E64DE8765B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UNIT</a:t>
            </a:r>
            <a:endParaRPr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7A52A2C-754A-A842-3015-FE00DCD0237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2289" y="2650876"/>
            <a:ext cx="4429124" cy="1883801"/>
          </a:xfrm>
        </p:spPr>
        <p:txBody>
          <a:bodyPr/>
          <a:lstStyle/>
          <a:p>
            <a:pPr algn="just"/>
            <a:r>
              <a:rPr lang="en-US" altLang="ko-KR"/>
              <a:t>Vietnamese + French (OPUS-MT + back-translation)</a:t>
            </a:r>
          </a:p>
          <a:p>
            <a:pPr lvl="1" algn="just"/>
            <a:r>
              <a:rPr lang="en-US" altLang="ko-KR" dirty="0"/>
              <a:t>2×2 grid/language (mDeBERTa-v3 184 M vs XLM-R-large 550 M × back-translation); VI best XLM-R-large + BT </a:t>
            </a:r>
            <a:r>
              <a:rPr lang="en-US" altLang="ko-KR" b="1" dirty="0"/>
              <a:t>0.9041</a:t>
            </a:r>
            <a:r>
              <a:rPr lang="en-US" altLang="ko-KR" dirty="0"/>
              <a:t> (O3); FR best XLM-R-large </a:t>
            </a:r>
            <a:r>
              <a:rPr lang="en-US" altLang="ko-KR" b="1" dirty="0"/>
              <a:t>0.9466</a:t>
            </a:r>
            <a:r>
              <a:rPr lang="en-US" altLang="ko-KR" dirty="0"/>
              <a:t> (O8); scale &gt; augmentation in </a:t>
            </a:r>
            <a:r>
              <a:rPr lang="en-US" altLang="ko-KR"/>
              <a:t>low-resource.</a:t>
            </a:r>
          </a:p>
          <a:p>
            <a:pPr lvl="1" algn="just"/>
            <a:r>
              <a:rPr lang="en-US" altLang="ko-KR" dirty="0"/>
              <a:t>Corpora are 100 % machine-translated — quality unmeasured (BLEU/chrF/COMET scope-out), an honest bound on the result.</a:t>
            </a:r>
            <a:endParaRPr lang="ko-KR" altLang="en-US" dirty="0"/>
          </a:p>
        </p:txBody>
      </p:sp>
      <p:sp>
        <p:nvSpPr>
          <p:cNvPr id="8" name="텍스트 개체 틀 6">
            <a:extLst>
              <a:ext uri="{FF2B5EF4-FFF2-40B4-BE49-F238E27FC236}">
                <a16:creationId xmlns:a16="http://schemas.microsoft.com/office/drawing/2014/main" id="{99812763-B9FE-3EF1-CDC0-00CA9E95AF50}"/>
              </a:ext>
            </a:extLst>
          </p:cNvPr>
          <p:cNvSpPr txBox="1">
            <a:spLocks/>
          </p:cNvSpPr>
          <p:nvPr/>
        </p:nvSpPr>
        <p:spPr>
          <a:xfrm>
            <a:off x="522288" y="4760668"/>
            <a:ext cx="4429124" cy="1444189"/>
          </a:xfrm>
          <a:prstGeom prst="rect">
            <a:avLst/>
          </a:prstGeom>
        </p:spPr>
        <p:txBody>
          <a:bodyPr lIns="0" tIns="0" rIns="0" bIns="0"/>
          <a:lstStyle>
            <a:lvl1pPr marL="177747" indent="-177747" algn="l" defTabSz="914126" rtl="0" eaLnBrk="1" latinLnBrk="1" hangingPunct="1">
              <a:lnSpc>
                <a:spcPts val="1800"/>
              </a:lnSpc>
              <a:spcBef>
                <a:spcPts val="1000"/>
              </a:spcBef>
              <a:buSzPct val="105000"/>
              <a:buFontTx/>
              <a:buBlip>
                <a:blip r:embed="rId2"/>
              </a:buBlip>
              <a:defRPr kumimoji="1" lang="en-US" altLang="ko-KR" sz="1400" kern="1200" smtClean="0">
                <a:solidFill>
                  <a:prstClr val="black">
                    <a:lumMod val="85000"/>
                    <a:lumOff val="15000"/>
                  </a:prstClr>
                </a:solidFill>
                <a:latin typeface="SamsungOne 400" panose="020B0503030303020204" pitchFamily="34" charset="0"/>
                <a:ea typeface="SamsungOne 400" panose="020B0503030303020204" pitchFamily="34" charset="0"/>
                <a:cs typeface="+mn-cs"/>
              </a:defRPr>
            </a:lvl1pPr>
            <a:lvl2pPr marL="360255" indent="-182508" algn="l" defTabSz="914126" rtl="0" eaLnBrk="1" latinLnBrk="1" hangingPunct="1">
              <a:lnSpc>
                <a:spcPts val="1800"/>
              </a:lnSpc>
              <a:spcBef>
                <a:spcPts val="500"/>
              </a:spcBef>
              <a:buSzPct val="80000"/>
              <a:buFontTx/>
              <a:buBlip>
                <a:blip r:embed="rId3"/>
              </a:buBlip>
              <a:tabLst>
                <a:tab pos="447541" algn="l"/>
              </a:tabLst>
              <a:defRPr lang="en-US" altLang="ko-KR" sz="1300" kern="1200" dirty="0" smtClean="0">
                <a:solidFill>
                  <a:prstClr val="black">
                    <a:lumMod val="85000"/>
                    <a:lumOff val="15000"/>
                  </a:prstClr>
                </a:solidFill>
                <a:latin typeface="SamsungOne 400" panose="020B0503030303020204" pitchFamily="34" charset="0"/>
                <a:ea typeface="SamsungOne 400" panose="020B0503030303020204" pitchFamily="34" charset="0"/>
                <a:cs typeface="+mn-cs"/>
              </a:defRPr>
            </a:lvl2pPr>
            <a:lvl3pPr marL="1142657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altLang="ko-KR"/>
              <a:t>Few-shot SetFit (data efficiency)</a:t>
            </a:r>
            <a:endParaRPr lang="en-US"/>
          </a:p>
          <a:p>
            <a:pPr lvl="1" algn="just"/>
            <a:r>
              <a:rPr lang="en-US" altLang="ko-KR" dirty="0"/>
              <a:t>K = 8/16/32/64 per class; @64 reaches 0.8755 — recovers 92.2 % of supervised F1 with 0.24 % of </a:t>
            </a:r>
            <a:r>
              <a:rPr lang="en-US" altLang="ko-KR"/>
              <a:t>the labels.</a:t>
            </a:r>
          </a:p>
          <a:p>
            <a:pPr lvl="1" algn="just"/>
            <a:r>
              <a:rPr lang="en-US" altLang="ko-KR" dirty="0"/>
              <a:t>Misses the 0.93 target (S2) but tells a strong label-efficiency story.</a:t>
            </a:r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C56BE769-C5CF-CBC4-C57C-5C4200477FF9}"/>
              </a:ext>
            </a:extLst>
          </p:cNvPr>
          <p:cNvSpPr txBox="1">
            <a:spLocks/>
          </p:cNvSpPr>
          <p:nvPr/>
        </p:nvSpPr>
        <p:spPr>
          <a:xfrm>
            <a:off x="5638560" y="5540625"/>
            <a:ext cx="3814889" cy="338554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lvl1pPr algn="l" defTabSz="914126" rtl="0" eaLnBrk="1" latinLnBrk="1" hangingPunct="1">
              <a:lnSpc>
                <a:spcPct val="100000"/>
              </a:lnSpc>
              <a:spcBef>
                <a:spcPts val="0"/>
              </a:spcBef>
              <a:buNone/>
              <a:defRPr lang="ko-KR" altLang="en-US" sz="3200" kern="1200">
                <a:solidFill>
                  <a:schemeClr val="tx1">
                    <a:lumMod val="95000"/>
                    <a:lumOff val="5000"/>
                  </a:schemeClr>
                </a:solidFill>
                <a:latin typeface="Samsung Sharp Sans" pitchFamily="2" charset="0"/>
                <a:ea typeface="Samsung Sharp Sans" pitchFamily="2" charset="0"/>
                <a:cs typeface="Samsung Sharp Sans" pitchFamily="2" charset="0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altLang="ko-KR" sz="1100"/>
              <a:t>Figure: SetFit recovers 92.2 % of supervised F1 with 0.24 % of the labels</a:t>
            </a:r>
          </a:p>
        </p:txBody>
      </p:sp>
      <p:pic>
        <p:nvPicPr>
          <p:cNvPr id="2050" name="Picture 2" descr="SetFit data-efficiency learning curve (K = 8/16/32/64)">
            <a:extLst>
              <a:ext uri="{FF2B5EF4-FFF2-40B4-BE49-F238E27FC236}">
                <a16:creationId xmlns:a16="http://schemas.microsoft.com/office/drawing/2014/main" id="{C0E5F31F-4D83-B2BE-92D2-DF9A2312FA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8560" y="3086748"/>
            <a:ext cx="3814889" cy="2331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256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20360-3679-0940-C93B-E89C4896C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307077-15D7-9BAB-16C9-D2F13157E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68" y="1440000"/>
            <a:ext cx="8663357" cy="984885"/>
          </a:xfrm>
        </p:spPr>
        <p:txBody>
          <a:bodyPr/>
          <a:lstStyle/>
          <a:p>
            <a:r>
              <a:rPr lang="en-US" altLang="en-US"/>
              <a:t>Trustworthy probabilities and transparent decisions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4CCA57-95A3-5D1C-FC7A-7D0D716E917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3.1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5E649C1-FCFE-49DB-8856-ED34036FBF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90000" y="450001"/>
            <a:ext cx="6837808" cy="276871"/>
          </a:xfrm>
        </p:spPr>
        <p:txBody>
          <a:bodyPr/>
          <a:lstStyle/>
          <a:p>
            <a:r>
              <a:rPr lang="en-US" altLang="en-US" b="1"/>
              <a:t>Calibration and explainability</a:t>
            </a:r>
            <a:endParaRPr lang="en-US" altLang="en-US" b="1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109354A-5BD7-86AB-EBC6-90687B15EA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/>
              <a:t>03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800185F-7A87-057A-3CF9-3E44AFB9EDB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UNIT</a:t>
            </a:r>
            <a:endParaRPr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FE920419-E72A-054E-663A-E60ABF2217B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2289" y="2650875"/>
            <a:ext cx="4429124" cy="1316227"/>
          </a:xfrm>
        </p:spPr>
        <p:txBody>
          <a:bodyPr/>
          <a:lstStyle/>
          <a:p>
            <a:pPr algn="just"/>
            <a:r>
              <a:rPr lang="en-US" altLang="ko-KR"/>
              <a:t>Calibration (meets O4)</a:t>
            </a:r>
          </a:p>
          <a:p>
            <a:pPr lvl="1" algn="just"/>
            <a:r>
              <a:rPr lang="en-US" altLang="ko-KR" dirty="0"/>
              <a:t>4-calibrator grid: baseline / temperature / class-wise isotonic / chained T→</a:t>
            </a:r>
            <a:r>
              <a:rPr lang="en-US" altLang="ko-KR"/>
              <a:t>isotonic.</a:t>
            </a:r>
          </a:p>
          <a:p>
            <a:pPr lvl="1" algn="just"/>
            <a:r>
              <a:rPr lang="en-US" altLang="ko-KR" dirty="0"/>
              <a:t>Chained T→isotonic drops </a:t>
            </a:r>
            <a:r>
              <a:rPr lang="en-US" altLang="ko-KR" b="1" dirty="0"/>
              <a:t>ECE 0.0502 </a:t>
            </a:r>
            <a:r>
              <a:rPr lang="en-US" altLang="ko-KR" b="1"/>
              <a:t>→ 0.0285 </a:t>
            </a:r>
          </a:p>
          <a:p>
            <a:pPr marL="177747" lvl="1" indent="0" algn="just">
              <a:buNone/>
            </a:pPr>
            <a:r>
              <a:rPr lang="en-US" altLang="ko-KR" b="1"/>
              <a:t>	</a:t>
            </a:r>
            <a:r>
              <a:rPr lang="en-US" altLang="ko-KR"/>
              <a:t>(</a:t>
            </a:r>
            <a:r>
              <a:rPr lang="en-US" altLang="ko-KR" dirty="0"/>
              <a:t>≤ 0.03); SE caveat per Roelofs [36], Vaicenavicius [37].</a:t>
            </a:r>
            <a:endParaRPr lang="ko-KR" altLang="en-US" dirty="0"/>
          </a:p>
        </p:txBody>
      </p:sp>
      <p:sp>
        <p:nvSpPr>
          <p:cNvPr id="8" name="텍스트 개체 틀 6">
            <a:extLst>
              <a:ext uri="{FF2B5EF4-FFF2-40B4-BE49-F238E27FC236}">
                <a16:creationId xmlns:a16="http://schemas.microsoft.com/office/drawing/2014/main" id="{6F4F3D73-CB1D-E5EC-302B-A4DA4B43BCA3}"/>
              </a:ext>
            </a:extLst>
          </p:cNvPr>
          <p:cNvSpPr txBox="1">
            <a:spLocks/>
          </p:cNvSpPr>
          <p:nvPr/>
        </p:nvSpPr>
        <p:spPr>
          <a:xfrm>
            <a:off x="522288" y="4133458"/>
            <a:ext cx="4429124" cy="1469208"/>
          </a:xfrm>
          <a:prstGeom prst="rect">
            <a:avLst/>
          </a:prstGeom>
        </p:spPr>
        <p:txBody>
          <a:bodyPr lIns="0" tIns="0" rIns="0" bIns="0"/>
          <a:lstStyle>
            <a:lvl1pPr marL="177747" indent="-177747" algn="l" defTabSz="914126" rtl="0" eaLnBrk="1" latinLnBrk="1" hangingPunct="1">
              <a:lnSpc>
                <a:spcPts val="1800"/>
              </a:lnSpc>
              <a:spcBef>
                <a:spcPts val="1000"/>
              </a:spcBef>
              <a:buSzPct val="105000"/>
              <a:buFontTx/>
              <a:buBlip>
                <a:blip r:embed="rId2"/>
              </a:buBlip>
              <a:defRPr kumimoji="1" lang="en-US" altLang="ko-KR" sz="1400" kern="1200" smtClean="0">
                <a:solidFill>
                  <a:prstClr val="black">
                    <a:lumMod val="85000"/>
                    <a:lumOff val="15000"/>
                  </a:prstClr>
                </a:solidFill>
                <a:latin typeface="SamsungOne 400" panose="020B0503030303020204" pitchFamily="34" charset="0"/>
                <a:ea typeface="SamsungOne 400" panose="020B0503030303020204" pitchFamily="34" charset="0"/>
                <a:cs typeface="+mn-cs"/>
              </a:defRPr>
            </a:lvl1pPr>
            <a:lvl2pPr marL="360255" indent="-182508" algn="l" defTabSz="914126" rtl="0" eaLnBrk="1" latinLnBrk="1" hangingPunct="1">
              <a:lnSpc>
                <a:spcPts val="1800"/>
              </a:lnSpc>
              <a:spcBef>
                <a:spcPts val="500"/>
              </a:spcBef>
              <a:buSzPct val="80000"/>
              <a:buFontTx/>
              <a:buBlip>
                <a:blip r:embed="rId3"/>
              </a:buBlip>
              <a:tabLst>
                <a:tab pos="447541" algn="l"/>
              </a:tabLst>
              <a:defRPr lang="en-US" altLang="ko-KR" sz="1300" kern="1200" dirty="0" smtClean="0">
                <a:solidFill>
                  <a:prstClr val="black">
                    <a:lumMod val="85000"/>
                    <a:lumOff val="15000"/>
                  </a:prstClr>
                </a:solidFill>
                <a:latin typeface="SamsungOne 400" panose="020B0503030303020204" pitchFamily="34" charset="0"/>
                <a:ea typeface="SamsungOne 400" panose="020B0503030303020204" pitchFamily="34" charset="0"/>
                <a:cs typeface="+mn-cs"/>
              </a:defRPr>
            </a:lvl2pPr>
            <a:lvl3pPr marL="1142657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altLang="ko-KR"/>
              <a:t>Explainability + error analysis</a:t>
            </a:r>
            <a:endParaRPr lang="en-US"/>
          </a:p>
          <a:p>
            <a:pPr lvl="1" algn="just"/>
            <a:r>
              <a:rPr lang="en-US" altLang="ko-KR" dirty="0"/>
              <a:t>SHAP TextExplainer [18] + LIME [19] run on the deployed model and surfaced in the UI — not buried in </a:t>
            </a:r>
            <a:r>
              <a:rPr lang="en-US" altLang="ko-KR"/>
              <a:t>an appendix</a:t>
            </a:r>
            <a:r>
              <a:rPr lang="en-US"/>
              <a:t>.</a:t>
            </a:r>
          </a:p>
          <a:p>
            <a:pPr lvl="1" algn="just"/>
            <a:r>
              <a:rPr lang="en-US" altLang="ko-KR" dirty="0"/>
              <a:t>Business ↔ Sci/Tech accounts for </a:t>
            </a:r>
            <a:r>
              <a:rPr lang="en-US" altLang="ko-KR" b="1" dirty="0"/>
              <a:t>52.4 %</a:t>
            </a:r>
            <a:r>
              <a:rPr lang="en-US" altLang="ko-KR" dirty="0"/>
              <a:t> of the 380 test errors — the dominant, interpretable failure mode.</a:t>
            </a:r>
            <a:endParaRPr lang="en-US" altLang="ko-KR"/>
          </a:p>
        </p:txBody>
      </p:sp>
      <p:pic>
        <p:nvPicPr>
          <p:cNvPr id="1026" name="Picture 2" descr="Reliability diagram — chained T→isotonic calibrator">
            <a:extLst>
              <a:ext uri="{FF2B5EF4-FFF2-40B4-BE49-F238E27FC236}">
                <a16:creationId xmlns:a16="http://schemas.microsoft.com/office/drawing/2014/main" id="{978BE816-3845-E1EB-960D-E9C88877D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9727" y="2650875"/>
            <a:ext cx="1188720" cy="1097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B65F8E59-26BE-8C10-381D-7EA4962B42D3}"/>
              </a:ext>
            </a:extLst>
          </p:cNvPr>
          <p:cNvSpPr txBox="1">
            <a:spLocks/>
          </p:cNvSpPr>
          <p:nvPr/>
        </p:nvSpPr>
        <p:spPr>
          <a:xfrm>
            <a:off x="5125743" y="3782435"/>
            <a:ext cx="2076689" cy="18466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lvl1pPr algn="l" defTabSz="914126" rtl="0" eaLnBrk="1" latinLnBrk="1" hangingPunct="1">
              <a:lnSpc>
                <a:spcPct val="100000"/>
              </a:lnSpc>
              <a:spcBef>
                <a:spcPts val="0"/>
              </a:spcBef>
              <a:buNone/>
              <a:defRPr lang="ko-KR" altLang="en-US" sz="3200" kern="1200">
                <a:solidFill>
                  <a:schemeClr val="tx1">
                    <a:lumMod val="95000"/>
                    <a:lumOff val="5000"/>
                  </a:schemeClr>
                </a:solidFill>
                <a:latin typeface="Samsung Sharp Sans" pitchFamily="2" charset="0"/>
                <a:ea typeface="Samsung Sharp Sans" pitchFamily="2" charset="0"/>
                <a:cs typeface="Samsung Sharp Sans" pitchFamily="2" charset="0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altLang="ko-KR" sz="600"/>
              <a:t>Figure: Chained T→isotonic calibration drops ECE from 0.0502 to 0.0285 (≤ 0.03)</a:t>
            </a:r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B4169C63-7900-B47F-7B1E-8262159CC87F}"/>
              </a:ext>
            </a:extLst>
          </p:cNvPr>
          <p:cNvSpPr txBox="1">
            <a:spLocks/>
          </p:cNvSpPr>
          <p:nvPr/>
        </p:nvSpPr>
        <p:spPr>
          <a:xfrm>
            <a:off x="7376762" y="3782436"/>
            <a:ext cx="2076688" cy="18466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lvl1pPr algn="l" defTabSz="914126" rtl="0" eaLnBrk="1" latinLnBrk="1" hangingPunct="1">
              <a:lnSpc>
                <a:spcPct val="100000"/>
              </a:lnSpc>
              <a:spcBef>
                <a:spcPts val="0"/>
              </a:spcBef>
              <a:buNone/>
              <a:defRPr lang="ko-KR" altLang="en-US" sz="3200" kern="1200">
                <a:solidFill>
                  <a:schemeClr val="tx1">
                    <a:lumMod val="95000"/>
                    <a:lumOff val="5000"/>
                  </a:schemeClr>
                </a:solidFill>
                <a:latin typeface="Samsung Sharp Sans" pitchFamily="2" charset="0"/>
                <a:ea typeface="Samsung Sharp Sans" pitchFamily="2" charset="0"/>
                <a:cs typeface="Samsung Sharp Sans" pitchFamily="2" charset="0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altLang="ko-KR" sz="600"/>
              <a:t>Figure: Business ↔ Sci/Tech accounts for 52.4 % of the 380 test errors</a:t>
            </a:r>
          </a:p>
        </p:txBody>
      </p:sp>
      <p:pic>
        <p:nvPicPr>
          <p:cNvPr id="1028" name="Picture 4" descr="Confusion matrix — ModernBERT-large, test set n = 7,600">
            <a:extLst>
              <a:ext uri="{FF2B5EF4-FFF2-40B4-BE49-F238E27FC236}">
                <a16:creationId xmlns:a16="http://schemas.microsoft.com/office/drawing/2014/main" id="{B603DD6A-6965-5F5E-7489-A90DF27CE8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3756" y="2650875"/>
            <a:ext cx="1282699" cy="1097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제목 1">
            <a:extLst>
              <a:ext uri="{FF2B5EF4-FFF2-40B4-BE49-F238E27FC236}">
                <a16:creationId xmlns:a16="http://schemas.microsoft.com/office/drawing/2014/main" id="{DA0EDB10-B570-14AB-BBE6-32A362E13633}"/>
              </a:ext>
            </a:extLst>
          </p:cNvPr>
          <p:cNvSpPr txBox="1">
            <a:spLocks/>
          </p:cNvSpPr>
          <p:nvPr/>
        </p:nvSpPr>
        <p:spPr>
          <a:xfrm>
            <a:off x="5125743" y="5418000"/>
            <a:ext cx="2076689" cy="18466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lvl1pPr algn="l" defTabSz="914126" rtl="0" eaLnBrk="1" latinLnBrk="1" hangingPunct="1">
              <a:lnSpc>
                <a:spcPct val="100000"/>
              </a:lnSpc>
              <a:spcBef>
                <a:spcPts val="0"/>
              </a:spcBef>
              <a:buNone/>
              <a:defRPr lang="ko-KR" altLang="en-US" sz="3200" kern="1200">
                <a:solidFill>
                  <a:schemeClr val="tx1">
                    <a:lumMod val="95000"/>
                    <a:lumOff val="5000"/>
                  </a:schemeClr>
                </a:solidFill>
                <a:latin typeface="Samsung Sharp Sans" pitchFamily="2" charset="0"/>
                <a:ea typeface="Samsung Sharp Sans" pitchFamily="2" charset="0"/>
                <a:cs typeface="Samsung Sharp Sans" pitchFamily="2" charset="0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altLang="ko-KR" sz="600"/>
              <a:t>Figure: SHAP — finance tokens push a Sci/Tech article toward Business</a:t>
            </a:r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C18691FB-2007-D9F9-FB70-232DD6E07315}"/>
              </a:ext>
            </a:extLst>
          </p:cNvPr>
          <p:cNvSpPr txBox="1">
            <a:spLocks/>
          </p:cNvSpPr>
          <p:nvPr/>
        </p:nvSpPr>
        <p:spPr>
          <a:xfrm>
            <a:off x="7376760" y="5418000"/>
            <a:ext cx="2076689" cy="18466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lvl1pPr algn="l" defTabSz="914126" rtl="0" eaLnBrk="1" latinLnBrk="1" hangingPunct="1">
              <a:lnSpc>
                <a:spcPct val="100000"/>
              </a:lnSpc>
              <a:spcBef>
                <a:spcPts val="0"/>
              </a:spcBef>
              <a:buNone/>
              <a:defRPr lang="ko-KR" altLang="en-US" sz="3200" kern="1200">
                <a:solidFill>
                  <a:schemeClr val="tx1">
                    <a:lumMod val="95000"/>
                    <a:lumOff val="5000"/>
                  </a:schemeClr>
                </a:solidFill>
                <a:latin typeface="Samsung Sharp Sans" pitchFamily="2" charset="0"/>
                <a:ea typeface="Samsung Sharp Sans" pitchFamily="2" charset="0"/>
                <a:cs typeface="Samsung Sharp Sans" pitchFamily="2" charset="0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altLang="ko-KR" sz="600"/>
              <a:t>Figure: LIME on the same article — both methods blame the same tokens</a:t>
            </a:r>
          </a:p>
        </p:txBody>
      </p:sp>
      <p:pic>
        <p:nvPicPr>
          <p:cNvPr id="1032" name="Picture 8" descr="LIME token weights — same article, cross-method agreement">
            <a:extLst>
              <a:ext uri="{FF2B5EF4-FFF2-40B4-BE49-F238E27FC236}">
                <a16:creationId xmlns:a16="http://schemas.microsoft.com/office/drawing/2014/main" id="{A03135B4-25F0-62B3-26CE-7C8E105501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6760" y="4931656"/>
            <a:ext cx="2075688" cy="451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SHAP token attribution — Sci/Tech article misread as Business">
            <a:extLst>
              <a:ext uri="{FF2B5EF4-FFF2-40B4-BE49-F238E27FC236}">
                <a16:creationId xmlns:a16="http://schemas.microsoft.com/office/drawing/2014/main" id="{D917C51F-5303-54A9-B223-4FFDAC94E0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6744" y="5105705"/>
            <a:ext cx="2075688" cy="246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25046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63272-4122-6099-6830-44F281AE1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072C95-FB69-D880-8D87-A85630735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68" y="1440000"/>
            <a:ext cx="8541187" cy="984885"/>
          </a:xfrm>
        </p:spPr>
        <p:txBody>
          <a:bodyPr/>
          <a:lstStyle/>
          <a:p>
            <a:r>
              <a:rPr lang="en-US" altLang="en-US"/>
              <a:t>Twelve models, one Pareto front, one live app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CC8A02E-5EE6-5C9E-445E-4113126F19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3.2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C6D207-24EA-3959-0D13-76DB091B6B1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en-US" b="1" dirty="0"/>
              <a:t>Latency–accuracy Pareto front and live demo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1428470-6DDB-BA13-A886-6DB205854D7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/>
              <a:t>03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C2D98C2D-9536-C680-812A-91A3DAC22D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UNIT</a:t>
            </a:r>
            <a:endParaRPr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4BBA2F23-42EC-AB1E-BF76-9E983848FFE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2289" y="2650876"/>
            <a:ext cx="4429124" cy="1723003"/>
          </a:xfrm>
        </p:spPr>
        <p:txBody>
          <a:bodyPr/>
          <a:lstStyle/>
          <a:p>
            <a:pPr algn="just"/>
            <a:r>
              <a:rPr lang="en-US" altLang="ko-KR"/>
              <a:t>Deployment engineering</a:t>
            </a:r>
            <a:endParaRPr lang="en-US" altLang="ko-KR" dirty="0"/>
          </a:p>
          <a:p>
            <a:pPr lvl="1" algn="just"/>
            <a:r>
              <a:rPr lang="en-US" altLang="ko-KR" dirty="0"/>
              <a:t>All 12 encoders → ONNX opset 17 → dynamic INT8 via Optimum; full 12-row latency–accuracy Pareto front on one </a:t>
            </a:r>
            <a:r>
              <a:rPr lang="en-US" altLang="ko-KR"/>
              <a:t>host.</a:t>
            </a:r>
          </a:p>
          <a:p>
            <a:pPr lvl="1" algn="just"/>
            <a:r>
              <a:rPr lang="en-US" altLang="ko-KR" dirty="0"/>
              <a:t>Pareto-optimal single checkpoint: </a:t>
            </a:r>
            <a:r>
              <a:rPr lang="en-US" altLang="ko-KR" b="1" dirty="0"/>
              <a:t>ModernBERT-base INT8</a:t>
            </a:r>
            <a:r>
              <a:rPr lang="en-US" altLang="ko-KR" dirty="0"/>
              <a:t> (147 MB, 94.71 % F1, 289.83 ms/sample, single-stream CPU).</a:t>
            </a:r>
            <a:endParaRPr lang="ko-KR" altLang="en-US" dirty="0"/>
          </a:p>
        </p:txBody>
      </p:sp>
      <p:sp>
        <p:nvSpPr>
          <p:cNvPr id="8" name="텍스트 개체 틀 6">
            <a:extLst>
              <a:ext uri="{FF2B5EF4-FFF2-40B4-BE49-F238E27FC236}">
                <a16:creationId xmlns:a16="http://schemas.microsoft.com/office/drawing/2014/main" id="{C6AE3650-9712-D037-67E4-3565AC20FB77}"/>
              </a:ext>
            </a:extLst>
          </p:cNvPr>
          <p:cNvSpPr txBox="1">
            <a:spLocks/>
          </p:cNvSpPr>
          <p:nvPr/>
        </p:nvSpPr>
        <p:spPr>
          <a:xfrm>
            <a:off x="522288" y="4599870"/>
            <a:ext cx="4429124" cy="1723002"/>
          </a:xfrm>
          <a:prstGeom prst="rect">
            <a:avLst/>
          </a:prstGeom>
        </p:spPr>
        <p:txBody>
          <a:bodyPr lIns="0" tIns="0" rIns="0" bIns="0"/>
          <a:lstStyle>
            <a:lvl1pPr marL="177747" indent="-177747" algn="l" defTabSz="914126" rtl="0" eaLnBrk="1" latinLnBrk="1" hangingPunct="1">
              <a:lnSpc>
                <a:spcPts val="1800"/>
              </a:lnSpc>
              <a:spcBef>
                <a:spcPts val="1000"/>
              </a:spcBef>
              <a:buSzPct val="105000"/>
              <a:buFontTx/>
              <a:buBlip>
                <a:blip r:embed="rId2"/>
              </a:buBlip>
              <a:defRPr kumimoji="1" lang="en-US" altLang="ko-KR" sz="1400" kern="1200" smtClean="0">
                <a:solidFill>
                  <a:prstClr val="black">
                    <a:lumMod val="85000"/>
                    <a:lumOff val="15000"/>
                  </a:prstClr>
                </a:solidFill>
                <a:latin typeface="SamsungOne 400" panose="020B0503030303020204" pitchFamily="34" charset="0"/>
                <a:ea typeface="SamsungOne 400" panose="020B0503030303020204" pitchFamily="34" charset="0"/>
                <a:cs typeface="+mn-cs"/>
              </a:defRPr>
            </a:lvl1pPr>
            <a:lvl2pPr marL="360255" indent="-182508" algn="l" defTabSz="914126" rtl="0" eaLnBrk="1" latinLnBrk="1" hangingPunct="1">
              <a:lnSpc>
                <a:spcPts val="1800"/>
              </a:lnSpc>
              <a:spcBef>
                <a:spcPts val="500"/>
              </a:spcBef>
              <a:buSzPct val="80000"/>
              <a:buFontTx/>
              <a:buBlip>
                <a:blip r:embed="rId3"/>
              </a:buBlip>
              <a:tabLst>
                <a:tab pos="447541" algn="l"/>
              </a:tabLst>
              <a:defRPr lang="en-US" altLang="ko-KR" sz="1300" kern="1200" dirty="0" smtClean="0">
                <a:solidFill>
                  <a:prstClr val="black">
                    <a:lumMod val="85000"/>
                    <a:lumOff val="15000"/>
                  </a:prstClr>
                </a:solidFill>
                <a:latin typeface="SamsungOne 400" panose="020B0503030303020204" pitchFamily="34" charset="0"/>
                <a:ea typeface="SamsungOne 400" panose="020B0503030303020204" pitchFamily="34" charset="0"/>
                <a:cs typeface="+mn-cs"/>
              </a:defRPr>
            </a:lvl2pPr>
            <a:lvl3pPr marL="1142657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altLang="ko-KR"/>
              <a:t>Live Gradio demo (embedded video)</a:t>
            </a:r>
            <a:endParaRPr lang="en-US"/>
          </a:p>
          <a:p>
            <a:pPr lvl="1" algn="just"/>
            <a:r>
              <a:rPr lang="en-US" altLang="ko-KR" dirty="0"/>
              <a:t>One dropdown over all 12 checkpoints; automatic EN/VI/FR routing; sliding-window long-document path; SHAP </a:t>
            </a:r>
            <a:r>
              <a:rPr lang="en-US" altLang="ko-KR"/>
              <a:t>highlighting.</a:t>
            </a:r>
          </a:p>
          <a:p>
            <a:pPr lvl="1" algn="just"/>
            <a:r>
              <a:rPr lang="en-US" altLang="ko-KR" dirty="0"/>
              <a:t>O5 latency miss is hardware-bounded (no INT8 model clears 50 ms @batch 1 on commodity x86) — reported, not hidden.</a:t>
            </a:r>
            <a:endParaRPr lang="en-US" altLang="ko-KR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7434E836-432E-B9FA-480B-6038CD590E14}"/>
              </a:ext>
            </a:extLst>
          </p:cNvPr>
          <p:cNvSpPr txBox="1">
            <a:spLocks/>
          </p:cNvSpPr>
          <p:nvPr/>
        </p:nvSpPr>
        <p:spPr>
          <a:xfrm>
            <a:off x="5638561" y="5566952"/>
            <a:ext cx="3814889" cy="338554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0" tIns="0" rIns="0" bIns="0" rtlCol="0" anchor="t">
            <a:spAutoFit/>
            <a:scene3d>
              <a:camera prst="orthographicFront"/>
              <a:lightRig rig="threePt" dir="t"/>
            </a:scene3d>
            <a:sp3d>
              <a:bevelT w="0" h="6350"/>
            </a:sp3d>
          </a:bodyPr>
          <a:lstStyle>
            <a:lvl1pPr algn="l" defTabSz="914126" rtl="0" eaLnBrk="1" latinLnBrk="1" hangingPunct="1">
              <a:lnSpc>
                <a:spcPct val="100000"/>
              </a:lnSpc>
              <a:spcBef>
                <a:spcPts val="0"/>
              </a:spcBef>
              <a:buNone/>
              <a:defRPr lang="ko-KR" altLang="en-US" sz="3200" kern="1200">
                <a:solidFill>
                  <a:schemeClr val="tx1">
                    <a:lumMod val="95000"/>
                    <a:lumOff val="5000"/>
                  </a:schemeClr>
                </a:solidFill>
                <a:latin typeface="Samsung Sharp Sans" pitchFamily="2" charset="0"/>
                <a:ea typeface="Samsung Sharp Sans" pitchFamily="2" charset="0"/>
                <a:cs typeface="Samsung Sharp Sans" pitchFamily="2" charset="0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altLang="ko-KR" sz="1100"/>
              <a:t>Figure: ModernBERT-base INT8 is Pareto-optimal (147 MB, 289.83 ms, F1 0.9471)</a:t>
            </a:r>
          </a:p>
        </p:txBody>
      </p:sp>
      <p:pic>
        <p:nvPicPr>
          <p:cNvPr id="2050" name="Picture 2" descr="Twelve-model INT8 latency–accuracy Pareto front">
            <a:extLst>
              <a:ext uri="{FF2B5EF4-FFF2-40B4-BE49-F238E27FC236}">
                <a16:creationId xmlns:a16="http://schemas.microsoft.com/office/drawing/2014/main" id="{FD4365C8-3CB0-592A-B650-CE5D349666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0402" y="2869020"/>
            <a:ext cx="3813048" cy="2592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79184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5A94-09D8-65F4-EE1C-0240B5A4A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F51E81-72C5-056A-F37C-3D63B5ED7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68" y="1440001"/>
            <a:ext cx="8887572" cy="449760"/>
          </a:xfrm>
        </p:spPr>
        <p:txBody>
          <a:bodyPr/>
          <a:lstStyle/>
          <a:p>
            <a:r>
              <a:rPr lang="en-US" altLang="en-US"/>
              <a:t>What was delivered, and what comes next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9DA81-7B6D-804D-7A69-ED28DBDCBE4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3.3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674037A-6184-3B2C-88FD-F1E4DFFC19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en-US" b="1" dirty="0"/>
              <a:t>Conclusions, outcomes and future work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62C6830-BEEA-73DA-4DDA-8EC65EB348C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/>
              <a:t>03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00E1C22E-F1F9-1819-2D6F-D6BD90F676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UNIT</a:t>
            </a:r>
            <a:endParaRPr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D9FAB6A7-27C0-9CE3-5603-F10D10C2731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2288" y="2132716"/>
            <a:ext cx="8055439" cy="1296283"/>
          </a:xfrm>
        </p:spPr>
        <p:txBody>
          <a:bodyPr/>
          <a:lstStyle/>
          <a:p>
            <a:r>
              <a:rPr lang="en-US" altLang="ko-KR"/>
              <a:t>Conclusions</a:t>
            </a:r>
            <a:endParaRPr lang="en-US" altLang="ko-KR" dirty="0"/>
          </a:p>
          <a:p>
            <a:pPr lvl="1"/>
            <a:r>
              <a:rPr lang="en-US" altLang="ko-KR" dirty="0"/>
              <a:t>Performance — R-Drop ensemble 0.9528 (O1); tri-lingual 0.9041 VI / 0.9466 FR (O3, O8); calibrated to 0.0285 (</a:t>
            </a:r>
            <a:r>
              <a:rPr lang="en-US" altLang="ko-KR"/>
              <a:t>O4).</a:t>
            </a:r>
          </a:p>
          <a:p>
            <a:pPr lvl="1"/>
            <a:r>
              <a:rPr lang="en-US" altLang="ko-KR" dirty="0"/>
              <a:t>Breadth — baselines → transformers → multilingual → few-shot → calibration → explainability → INT8 deployment, fully reproducible.</a:t>
            </a:r>
            <a:endParaRPr lang="ko-KR" altLang="en-US" dirty="0"/>
          </a:p>
        </p:txBody>
      </p:sp>
      <p:sp>
        <p:nvSpPr>
          <p:cNvPr id="8" name="텍스트 개체 틀 6">
            <a:extLst>
              <a:ext uri="{FF2B5EF4-FFF2-40B4-BE49-F238E27FC236}">
                <a16:creationId xmlns:a16="http://schemas.microsoft.com/office/drawing/2014/main" id="{95064C72-A1B7-3D56-2D72-51051999B7C4}"/>
              </a:ext>
            </a:extLst>
          </p:cNvPr>
          <p:cNvSpPr txBox="1">
            <a:spLocks/>
          </p:cNvSpPr>
          <p:nvPr/>
        </p:nvSpPr>
        <p:spPr>
          <a:xfrm>
            <a:off x="522288" y="3671954"/>
            <a:ext cx="8055439" cy="767966"/>
          </a:xfrm>
          <a:prstGeom prst="rect">
            <a:avLst/>
          </a:prstGeom>
        </p:spPr>
        <p:txBody>
          <a:bodyPr lIns="0" tIns="0" rIns="0" bIns="0"/>
          <a:lstStyle>
            <a:lvl1pPr marL="177747" indent="-177747" algn="l" defTabSz="914126" rtl="0" eaLnBrk="1" latinLnBrk="1" hangingPunct="1">
              <a:lnSpc>
                <a:spcPts val="1800"/>
              </a:lnSpc>
              <a:spcBef>
                <a:spcPts val="1000"/>
              </a:spcBef>
              <a:buSzPct val="105000"/>
              <a:buFontTx/>
              <a:buBlip>
                <a:blip r:embed="rId2"/>
              </a:buBlip>
              <a:defRPr kumimoji="1" lang="en-US" altLang="ko-KR" sz="1400" kern="1200" smtClean="0">
                <a:solidFill>
                  <a:prstClr val="black">
                    <a:lumMod val="85000"/>
                    <a:lumOff val="15000"/>
                  </a:prstClr>
                </a:solidFill>
                <a:latin typeface="SamsungOne 400" panose="020B0503030303020204" pitchFamily="34" charset="0"/>
                <a:ea typeface="SamsungOne 400" panose="020B0503030303020204" pitchFamily="34" charset="0"/>
                <a:cs typeface="+mn-cs"/>
              </a:defRPr>
            </a:lvl1pPr>
            <a:lvl2pPr marL="360255" indent="-182508" algn="l" defTabSz="914126" rtl="0" eaLnBrk="1" latinLnBrk="1" hangingPunct="1">
              <a:lnSpc>
                <a:spcPts val="1800"/>
              </a:lnSpc>
              <a:spcBef>
                <a:spcPts val="500"/>
              </a:spcBef>
              <a:buSzPct val="80000"/>
              <a:buFontTx/>
              <a:buBlip>
                <a:blip r:embed="rId3"/>
              </a:buBlip>
              <a:tabLst>
                <a:tab pos="447541" algn="l"/>
              </a:tabLst>
              <a:defRPr lang="en-US" altLang="ko-KR" sz="1300" kern="1200" dirty="0" smtClean="0">
                <a:solidFill>
                  <a:prstClr val="black">
                    <a:lumMod val="85000"/>
                    <a:lumOff val="15000"/>
                  </a:prstClr>
                </a:solidFill>
                <a:latin typeface="SamsungOne 400" panose="020B0503030303020204" pitchFamily="34" charset="0"/>
                <a:ea typeface="SamsungOne 400" panose="020B0503030303020204" pitchFamily="34" charset="0"/>
                <a:cs typeface="+mn-cs"/>
              </a:defRPr>
            </a:lvl2pPr>
            <a:lvl3pPr marL="1142657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/>
              <a:t>Future work</a:t>
            </a:r>
            <a:endParaRPr lang="en-US"/>
          </a:p>
          <a:p>
            <a:pPr lvl="1"/>
            <a:r>
              <a:rPr lang="en-US" altLang="ko-KR" dirty="0"/>
              <a:t>NLLB-200 / shared-encoder multi-task to lift VI &amp; FR; instruction-tuned LLM zero-shot baseline (O2); static-calibration INT8 (O5); continuous-evaluation CI dashboard.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1883032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0DC12-FA2A-F4DC-550A-EEB23E6EC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1F4E53-79C6-46B6-B8F4-DBCAEFE86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68" y="1440000"/>
            <a:ext cx="8541187" cy="492443"/>
          </a:xfrm>
        </p:spPr>
        <p:txBody>
          <a:bodyPr/>
          <a:lstStyle/>
          <a:p>
            <a:pPr algn="ctr"/>
            <a:r>
              <a:rPr lang="en-US" altLang="en-US"/>
              <a:t>Thank you — Questions?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8687D6-3F37-8CE6-A2A2-F27F8BD6554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90000" y="450001"/>
            <a:ext cx="6837808" cy="276871"/>
          </a:xfrm>
        </p:spPr>
        <p:txBody>
          <a:bodyPr/>
          <a:lstStyle/>
          <a:p>
            <a:r>
              <a:rPr lang="en-US" altLang="en-US" b="1" dirty="0"/>
              <a:t>Q</a:t>
            </a:r>
            <a:r>
              <a:rPr lang="en-US" altLang="en-US" b="1"/>
              <a:t>&amp;A / Selected references</a:t>
            </a:r>
            <a:endParaRPr lang="en-US" altLang="en-US" b="1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F4D94973-2877-D309-C1CA-3046E5E8B85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2288" y="2650877"/>
            <a:ext cx="8055439" cy="641846"/>
          </a:xfrm>
        </p:spPr>
        <p:txBody>
          <a:bodyPr/>
          <a:lstStyle/>
          <a:p>
            <a:r>
              <a:rPr lang="en-US" altLang="ko-KR"/>
              <a:t>Aimer PAM · Vo Hai Dung</a:t>
            </a:r>
          </a:p>
          <a:p>
            <a:pPr lvl="1"/>
            <a:r>
              <a:rPr lang="en-US" altLang="ko-KR">
                <a:hlinkClick r:id="rId2"/>
              </a:rPr>
              <a:t>github.com/VoHaiDung/ag-news-text-classification</a:t>
            </a:r>
            <a:endParaRPr lang="en-US" altLang="ko-KR"/>
          </a:p>
        </p:txBody>
      </p:sp>
      <p:sp>
        <p:nvSpPr>
          <p:cNvPr id="14" name="텍스트 개체 틀 6">
            <a:extLst>
              <a:ext uri="{FF2B5EF4-FFF2-40B4-BE49-F238E27FC236}">
                <a16:creationId xmlns:a16="http://schemas.microsoft.com/office/drawing/2014/main" id="{908DADBC-0A83-BBFE-9DDD-E28D803EDF01}"/>
              </a:ext>
            </a:extLst>
          </p:cNvPr>
          <p:cNvSpPr txBox="1">
            <a:spLocks/>
          </p:cNvSpPr>
          <p:nvPr/>
        </p:nvSpPr>
        <p:spPr>
          <a:xfrm>
            <a:off x="522287" y="3565277"/>
            <a:ext cx="8055439" cy="2686233"/>
          </a:xfrm>
          <a:prstGeom prst="rect">
            <a:avLst/>
          </a:prstGeom>
        </p:spPr>
        <p:txBody>
          <a:bodyPr lIns="0" tIns="0" rIns="0" bIns="0" numCol="2"/>
          <a:lstStyle>
            <a:lvl1pPr marL="177747" indent="-177747" algn="l" defTabSz="914126" rtl="0" eaLnBrk="1" latinLnBrk="1" hangingPunct="1">
              <a:lnSpc>
                <a:spcPts val="1800"/>
              </a:lnSpc>
              <a:spcBef>
                <a:spcPts val="1000"/>
              </a:spcBef>
              <a:buSzPct val="105000"/>
              <a:buFontTx/>
              <a:buBlip>
                <a:blip r:embed="rId3"/>
              </a:buBlip>
              <a:defRPr kumimoji="1" lang="en-US" altLang="ko-KR" sz="1400" kern="1200" smtClean="0">
                <a:solidFill>
                  <a:prstClr val="black">
                    <a:lumMod val="85000"/>
                    <a:lumOff val="15000"/>
                  </a:prstClr>
                </a:solidFill>
                <a:latin typeface="SamsungOne 400" panose="020B0503030303020204" pitchFamily="34" charset="0"/>
                <a:ea typeface="SamsungOne 400" panose="020B0503030303020204" pitchFamily="34" charset="0"/>
                <a:cs typeface="+mn-cs"/>
              </a:defRPr>
            </a:lvl1pPr>
            <a:lvl2pPr marL="360255" indent="-182508" algn="l" defTabSz="914126" rtl="0" eaLnBrk="1" latinLnBrk="1" hangingPunct="1">
              <a:lnSpc>
                <a:spcPts val="1800"/>
              </a:lnSpc>
              <a:spcBef>
                <a:spcPts val="500"/>
              </a:spcBef>
              <a:buSzPct val="80000"/>
              <a:buFontTx/>
              <a:buBlip>
                <a:blip r:embed="rId4"/>
              </a:buBlip>
              <a:tabLst>
                <a:tab pos="447541" algn="l"/>
              </a:tabLst>
              <a:defRPr lang="en-US" altLang="ko-KR" sz="1300" kern="1200" dirty="0" smtClean="0">
                <a:solidFill>
                  <a:prstClr val="black">
                    <a:lumMod val="85000"/>
                    <a:lumOff val="15000"/>
                  </a:prstClr>
                </a:solidFill>
                <a:latin typeface="SamsungOne 400" panose="020B0503030303020204" pitchFamily="34" charset="0"/>
                <a:ea typeface="SamsungOne 400" panose="020B0503030303020204" pitchFamily="34" charset="0"/>
                <a:cs typeface="+mn-cs"/>
              </a:defRPr>
            </a:lvl2pPr>
            <a:lvl3pPr marL="1142657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Selected references</a:t>
            </a:r>
          </a:p>
          <a:p>
            <a:pPr lvl="1"/>
            <a:r>
              <a:rPr lang="en-US" altLang="ko-KR" sz="1100" dirty="0"/>
              <a:t>[1]  Zhang, Zhao &amp; LeCun (2015) — Character-level ConvNets / AG News</a:t>
            </a:r>
          </a:p>
          <a:p>
            <a:pPr lvl="1"/>
            <a:r>
              <a:rPr lang="en-US" sz="1100"/>
              <a:t>[</a:t>
            </a:r>
            <a:r>
              <a:rPr lang="en-US" sz="1100" dirty="0"/>
              <a:t>6]  Warner et al. (2024) — </a:t>
            </a:r>
            <a:r>
              <a:rPr lang="en-US" sz="1100" dirty="0" err="1"/>
              <a:t>ModernBERT</a:t>
            </a:r>
            <a:endParaRPr lang="en-US" sz="1100" dirty="0"/>
          </a:p>
          <a:p>
            <a:pPr lvl="1"/>
            <a:r>
              <a:rPr lang="en-US" sz="1100" dirty="0"/>
              <a:t>[9]  Liang et al. (2021) — R-Drop</a:t>
            </a:r>
          </a:p>
          <a:p>
            <a:pPr lvl="1"/>
            <a:r>
              <a:rPr lang="en-US" sz="1100" dirty="0"/>
              <a:t>[10] Dietterich (2000) — Ensemble methods</a:t>
            </a:r>
          </a:p>
          <a:p>
            <a:pPr lvl="1"/>
            <a:r>
              <a:rPr lang="en-US" sz="1100" dirty="0"/>
              <a:t>[12] Tunstall et al. (2022) — </a:t>
            </a:r>
            <a:r>
              <a:rPr lang="en-US" sz="1100" dirty="0" err="1"/>
              <a:t>SetFit</a:t>
            </a:r>
            <a:endParaRPr lang="en-US" sz="1100" dirty="0"/>
          </a:p>
          <a:p>
            <a:pPr lvl="1"/>
            <a:r>
              <a:rPr lang="en-US" sz="1100" dirty="0"/>
              <a:t>[14] Tiedemann &amp; </a:t>
            </a:r>
            <a:r>
              <a:rPr lang="en-US" sz="1100" dirty="0" err="1"/>
              <a:t>Thottingal</a:t>
            </a:r>
            <a:r>
              <a:rPr lang="en-US" sz="1100" dirty="0"/>
              <a:t> (2020) — OPUS-MT</a:t>
            </a:r>
          </a:p>
          <a:p>
            <a:pPr lvl="1"/>
            <a:r>
              <a:rPr lang="en-US" sz="1100" dirty="0"/>
              <a:t>[18] Lundberg &amp; Lee (2017) — SHAP</a:t>
            </a:r>
          </a:p>
          <a:p>
            <a:pPr lvl="1"/>
            <a:endParaRPr lang="en-US" sz="1100"/>
          </a:p>
          <a:p>
            <a:pPr lvl="1"/>
            <a:r>
              <a:rPr lang="en-US" sz="1100"/>
              <a:t>[</a:t>
            </a:r>
            <a:r>
              <a:rPr lang="en-US" sz="1100" dirty="0"/>
              <a:t>19] Ribeiro et al. (2016) — LIME</a:t>
            </a:r>
          </a:p>
          <a:p>
            <a:pPr lvl="1"/>
            <a:r>
              <a:rPr lang="en-US" sz="1100" dirty="0"/>
              <a:t>[22] Guo et al. (2017) — Temperature scaling</a:t>
            </a:r>
          </a:p>
          <a:p>
            <a:pPr lvl="1"/>
            <a:r>
              <a:rPr lang="en-US" sz="1100" dirty="0"/>
              <a:t>[23] Zadrozny &amp; Elkan (2002) — Isotonic regression</a:t>
            </a:r>
          </a:p>
          <a:p>
            <a:pPr lvl="1"/>
            <a:r>
              <a:rPr lang="en-US" sz="1100" dirty="0"/>
              <a:t>[36] Roelofs et al. (2022) — Calibration-error bias</a:t>
            </a:r>
          </a:p>
          <a:p>
            <a:pPr lvl="1"/>
            <a:r>
              <a:rPr lang="en-US" sz="1100" dirty="0"/>
              <a:t>[37] </a:t>
            </a:r>
            <a:r>
              <a:rPr lang="en-US" sz="1100" dirty="0" err="1"/>
              <a:t>Vaicenavicius</a:t>
            </a:r>
            <a:r>
              <a:rPr lang="en-US" sz="1100" dirty="0"/>
              <a:t> et al. (2019) — Evaluating calibration</a:t>
            </a:r>
          </a:p>
        </p:txBody>
      </p:sp>
    </p:spTree>
    <p:extLst>
      <p:ext uri="{BB962C8B-B14F-4D97-AF65-F5344CB8AC3E}">
        <p14:creationId xmlns:p14="http://schemas.microsoft.com/office/powerpoint/2010/main" val="20327552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6206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amsung">
      <a:majorFont>
        <a:latin typeface="Samsung Sharp Sans"/>
        <a:ea typeface="SamsungOneKorean 700"/>
        <a:cs typeface=""/>
      </a:majorFont>
      <a:minorFont>
        <a:latin typeface="SamsungOne 400"/>
        <a:ea typeface="SamsungOneKorean 400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4492</TotalTime>
  <Words>1416</Words>
  <Application>Microsoft Office PowerPoint</Application>
  <PresentationFormat>Custom</PresentationFormat>
  <Paragraphs>139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4" baseType="lpstr">
      <vt:lpstr>SamsungOne 700</vt:lpstr>
      <vt:lpstr>Samsung Sharp Sans</vt:lpstr>
      <vt:lpstr>Times New Roman</vt:lpstr>
      <vt:lpstr>Samsung Sharp Sans Medium</vt:lpstr>
      <vt:lpstr>Arial</vt:lpstr>
      <vt:lpstr>Samsung Sharp Sans Bold</vt:lpstr>
      <vt:lpstr>SamsungOne 400</vt:lpstr>
      <vt:lpstr>맑은 고딕</vt:lpstr>
      <vt:lpstr>Calibri</vt:lpstr>
      <vt:lpstr>SamsungOne 400C</vt:lpstr>
      <vt:lpstr>Office Theme</vt:lpstr>
      <vt:lpstr>AG News Text Classification</vt:lpstr>
      <vt:lpstr>PowerPoint Presentation</vt:lpstr>
      <vt:lpstr>Why AG News, and why go beyond a single BERT score</vt:lpstr>
      <vt:lpstr>Eight objectives, eight measurable targets</vt:lpstr>
      <vt:lpstr>A clean dataset and a linear, reproducible plan</vt:lpstr>
      <vt:lpstr>Establishing the reference point, then        scaling up</vt:lpstr>
      <vt:lpstr>Closing the last 0.3 pp to meet O1</vt:lpstr>
      <vt:lpstr>Three languages and a data-efficiency    curve</vt:lpstr>
      <vt:lpstr>Trustworthy probabilities and transparent decisions</vt:lpstr>
      <vt:lpstr>Twelve models, one Pareto front, one live app</vt:lpstr>
      <vt:lpstr>What was delivered, and what comes next</vt:lpstr>
      <vt:lpstr>Thank you — Questions?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Programming in Python</dc:title>
  <dc:creator>Soon Yong Chang</dc:creator>
  <cp:lastModifiedBy>Blue Autumn</cp:lastModifiedBy>
  <cp:revision>2098</cp:revision>
  <dcterms:created xsi:type="dcterms:W3CDTF">2019-07-06T14:12:49Z</dcterms:created>
  <dcterms:modified xsi:type="dcterms:W3CDTF">2026-06-03T05:08:50Z</dcterms:modified>
</cp:coreProperties>
</file>