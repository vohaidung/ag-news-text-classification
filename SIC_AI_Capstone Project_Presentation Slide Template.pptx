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15"/>
  </p:notesMasterIdLst>
  <p:sldIdLst>
    <p:sldId id="790" r:id="rId2"/>
    <p:sldId id="791" r:id="rId3"/>
    <p:sldId id="792" r:id="rId4"/>
    <p:sldId id="793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1" r:id="rId13"/>
    <p:sldId id="788" r:id="rId14"/>
  </p:sldIdLst>
  <p:sldSz cx="9902825" cy="6858000"/>
  <p:notesSz cx="6858000" cy="9144000"/>
  <p:embeddedFontLst>
    <p:embeddedFont>
      <p:font typeface="맑은 고딕" panose="020B0503020000020004" pitchFamily="34" charset="-127"/>
      <p:regular r:id="rId16"/>
      <p:bold r:id="rId17"/>
    </p:embeddedFont>
    <p:embeddedFont>
      <p:font typeface="Samsung Sharp Sans" panose="020B0604020202020204" charset="0"/>
      <p:bold r:id="rId18"/>
    </p:embeddedFont>
    <p:embeddedFont>
      <p:font typeface="SamsungOne 400" panose="020B0503030303020204" charset="0"/>
      <p:regular r:id="rId19"/>
    </p:embeddedFont>
    <p:embeddedFont>
      <p:font typeface="SamsungOne 400C" panose="020B0506030303020204" charset="0"/>
      <p:regular r:id="rId20"/>
    </p:embeddedFont>
    <p:embeddedFont>
      <p:font typeface="SamsungOne 700" panose="020B0803030303020204" charset="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72205" autoAdjust="0"/>
  </p:normalViewPr>
  <p:slideViewPr>
    <p:cSldViewPr snapToGrid="0">
      <p:cViewPr>
        <p:scale>
          <a:sx n="66" d="100"/>
          <a:sy n="66" d="100"/>
        </p:scale>
        <p:origin x="1776" y="413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2026-06-27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Artificial Intelligence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AG News Text Classification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 Sharp Sans Medium" pitchFamily="2" charset="0"/>
              <a:ea typeface="Samsung Sharp Sans Medium" pitchFamily="2" charset="0"/>
              <a:cs typeface="Samsung Sharp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2025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VoHaiDung/ag-news-text-classificati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Aimer PAM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</p:spPr>
        <p:txBody>
          <a:bodyPr/>
          <a:lstStyle/>
          <a:p>
            <a:r>
              <a:rPr lang="en-US" altLang="ko-KR"/>
              <a:t>AG News Text Classification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1. </a:t>
              </a:r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Problem framing and pipeline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Motivation and the 2025 NLP toolkit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1.2. Objectives O1–O8 and success metrics</a:t>
              </a:r>
              <a:endParaRPr lang="en-US" altLang="ko-KR" sz="1400" dirty="0">
                <a:solidFill>
                  <a:schemeClr val="bg1">
                    <a:lumMod val="65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1.3. Dataset, EDA and nine-phase pipeline</a:t>
              </a:r>
              <a:endParaRPr lang="en-US" altLang="ko-KR" sz="1400" dirty="0">
                <a:solidFill>
                  <a:schemeClr val="bg1">
                    <a:lumMod val="65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endParaRP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6753"/>
            <a:ext cx="6610523" cy="1216982"/>
            <a:chOff x="4181256" y="3224809"/>
            <a:chExt cx="661052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5667027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2</a:t>
              </a:r>
              <a:r>
                <a:rPr lang="en-US" altLang="ko-KR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. Modeling: from baselines to a tri-lingual lineup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563102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</a:t>
              </a:r>
              <a:r>
                <a:rPr lang="en-US" altLang="ko-KR" sz="140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. Classical baselines and transformer scale ablation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2.2. Variance reduction: R-Drop + 3-seed ensemble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2.3. Multilingual extension (Vietnamese + French) and few-shot SetFit</a:t>
              </a:r>
              <a:endParaRPr lang="en-US" altLang="ko-KR" sz="1400" dirty="0">
                <a:solidFill>
                  <a:schemeClr val="bg1">
                    <a:lumMod val="65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endParaRP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641466"/>
            <a:ext cx="4962176" cy="1216982"/>
            <a:chOff x="4181256" y="3224809"/>
            <a:chExt cx="4962176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77929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3</a:t>
              </a:r>
              <a:r>
                <a:rPr lang="en-US" altLang="ko-KR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. Evaluation, deployment and outcomes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917366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</a:t>
              </a:r>
              <a:r>
                <a:rPr lang="en-US" altLang="ko-KR" sz="140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. Calibration and explainability (SHAP / LIME)</a:t>
              </a:r>
              <a:endParaRPr lang="en-US" altLang="ko-KR" sz="1400" dirty="0">
                <a:solidFill>
                  <a:srgbClr val="193EB0"/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3.2</a:t>
              </a: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. Latency–accuracy Pareto front and live demo</a:t>
              </a:r>
              <a:endParaRPr lang="en-US" altLang="ko-KR" sz="1400" dirty="0">
                <a:solidFill>
                  <a:schemeClr val="bg1">
                    <a:lumMod val="65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3.3</a:t>
              </a:r>
              <a:r>
                <a:rPr lang="en-US" altLang="ko-KR" sz="140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. Conclusions, outcomes and future work</a:t>
              </a:r>
              <a:endParaRPr lang="en-US" altLang="ko-KR" sz="1400" dirty="0">
                <a:solidFill>
                  <a:schemeClr val="bg1">
                    <a:lumMod val="65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endParaRP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AG News 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759049" cy="984885"/>
          </a:xfrm>
        </p:spPr>
        <p:txBody>
          <a:bodyPr/>
          <a:lstStyle/>
          <a:p>
            <a:r>
              <a:rPr lang="en-US" altLang="ko-KR"/>
              <a:t>Why AG News, and why go beyond a single BERT score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Motivation and the 2025 NLP toolkit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529575"/>
            <a:ext cx="8055439" cy="1041039"/>
          </a:xfrm>
        </p:spPr>
        <p:txBody>
          <a:bodyPr/>
          <a:lstStyle/>
          <a:p>
            <a:r>
              <a:rPr lang="en-US" altLang="ko-KR"/>
              <a:t>The problem</a:t>
            </a:r>
            <a:endParaRPr lang="en-US" altLang="ko-KR" dirty="0"/>
          </a:p>
          <a:p>
            <a:pPr lvl="1"/>
            <a:r>
              <a:rPr lang="en-US" altLang="ko-KR"/>
              <a:t>Topic classification of short news articles into 4 classes — World, Sports, Business, Sci/Tech (Zhang, Zhao &amp; LeCun [1]).</a:t>
            </a:r>
          </a:p>
          <a:p>
            <a:pPr lvl="1"/>
            <a:r>
              <a:rPr lang="en-US" altLang="ko-KR"/>
              <a:t>A single fine-tuned BERT already scores ~94 %; the open question is everything around accuracy.</a:t>
            </a:r>
            <a:endParaRPr lang="ko-KR" altLang="en-US" dirty="0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D48C9220-8226-230E-FEF1-AF500AF4FF15}"/>
              </a:ext>
            </a:extLst>
          </p:cNvPr>
          <p:cNvSpPr txBox="1">
            <a:spLocks/>
          </p:cNvSpPr>
          <p:nvPr/>
        </p:nvSpPr>
        <p:spPr>
          <a:xfrm>
            <a:off x="522288" y="3675304"/>
            <a:ext cx="8055439" cy="1041039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gap this project fills</a:t>
            </a:r>
          </a:p>
          <a:p>
            <a:pPr lvl="1"/>
            <a:r>
              <a:rPr lang="en-US"/>
              <a:t>One repository exercising the full modern stack — robustness, calibration, explainability, data efficiency, latency, multilinguality.</a:t>
            </a:r>
          </a:p>
          <a:p>
            <a:pPr lvl="1"/>
            <a:r>
              <a:rPr lang="en-US"/>
              <a:t>Reproducible, auditable, and deployment-aware, not a notebook.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A604F-4520-80DB-7C88-F0473ACA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EFE3C-605C-A1BF-66A1-7855E867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984885"/>
          </a:xfrm>
        </p:spPr>
        <p:txBody>
          <a:bodyPr/>
          <a:lstStyle/>
          <a:p>
            <a:r>
              <a:rPr lang="en-US" altLang="ko-KR"/>
              <a:t>Eight objectives, eight measurable targets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273977-05B9-1E8E-89B4-F9E17564B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1.2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6520E6-2B70-870E-40E1-5AD77D3D80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Objectives O1–O8 and success metrics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DAB764-DAF2-6B8E-16F7-E03799CC0F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6768F3-8111-395E-E6A4-F79D13203E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F7600CC-DD36-BFDC-59DB-935DA2F335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566902"/>
            <a:ext cx="8055439" cy="1062705"/>
          </a:xfrm>
        </p:spPr>
        <p:txBody>
          <a:bodyPr/>
          <a:lstStyle/>
          <a:p>
            <a:r>
              <a:rPr lang="en-US" altLang="ko-KR"/>
              <a:t>Outcome — 6 of 8 objectives met</a:t>
            </a:r>
            <a:endParaRPr lang="en-US" altLang="ko-KR" dirty="0"/>
          </a:p>
          <a:p>
            <a:pPr lvl="1"/>
            <a:r>
              <a:rPr lang="en-US" altLang="ko-KR"/>
              <a:t>O1 English F1 ≥ 0.95 → </a:t>
            </a:r>
            <a:r>
              <a:rPr lang="en-US" altLang="ko-KR" b="1"/>
              <a:t>0.9528</a:t>
            </a:r>
            <a:r>
              <a:rPr lang="en-US" altLang="ko-KR"/>
              <a:t> (met); O3 Vietnamese ≥ 0.90 → </a:t>
            </a:r>
            <a:r>
              <a:rPr lang="en-US" altLang="ko-KR" b="1"/>
              <a:t>0.9041</a:t>
            </a:r>
            <a:r>
              <a:rPr lang="en-US" altLang="ko-KR"/>
              <a:t> (met); O8 French ≥ 0.90 → </a:t>
            </a:r>
            <a:r>
              <a:rPr lang="en-US" altLang="ko-KR" b="1"/>
              <a:t>0.9466</a:t>
            </a:r>
            <a:r>
              <a:rPr lang="en-US" altLang="ko-KR"/>
              <a:t> (met).</a:t>
            </a:r>
          </a:p>
          <a:p>
            <a:pPr lvl="1"/>
            <a:r>
              <a:rPr lang="en-US" altLang="ko-KR"/>
              <a:t>O4 ECE ≤ 0.03 → </a:t>
            </a:r>
            <a:r>
              <a:rPr lang="en-US" altLang="ko-KR" b="1"/>
              <a:t>0.0285</a:t>
            </a:r>
            <a:r>
              <a:rPr lang="en-US" altLang="ko-KR"/>
              <a:t> (met); O6 public GitHub 200 OK (met); O7 SIC report submitted (met).</a:t>
            </a:r>
            <a:endParaRPr lang="ko-KR" altLang="en-US" dirty="0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C39EA4B7-5382-561D-6AD1-93FA68A2DA11}"/>
              </a:ext>
            </a:extLst>
          </p:cNvPr>
          <p:cNvSpPr txBox="1">
            <a:spLocks/>
          </p:cNvSpPr>
          <p:nvPr/>
        </p:nvSpPr>
        <p:spPr>
          <a:xfrm>
            <a:off x="522288" y="3771625"/>
            <a:ext cx="8055439" cy="837698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two honest misses</a:t>
            </a:r>
          </a:p>
          <a:p>
            <a:pPr lvl="1"/>
            <a:r>
              <a:rPr lang="en-US"/>
              <a:t>O2/S2 SetFit @64 ≥ 0.93 → 0.8755 (not met).</a:t>
            </a:r>
          </a:p>
          <a:p>
            <a:pPr lvl="1"/>
            <a:r>
              <a:rPr lang="en-US"/>
              <a:t>O5 latency ≤ 50 ms CPU @batch 1 → 290 ms (not met, hardware-bounded — reported transparently).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714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C358-42F1-AB45-9398-2C53C6A4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D035C-0730-81D0-6BDE-F230739B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984885"/>
          </a:xfrm>
        </p:spPr>
        <p:txBody>
          <a:bodyPr/>
          <a:lstStyle/>
          <a:p>
            <a:r>
              <a:rPr lang="en-US" altLang="ko-KR"/>
              <a:t>A clean dataset and a linear, reproducible plan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3D6212-7826-70D9-DC56-E7F46F215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1.3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626DF0-6431-F73A-4895-EEFF32179E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Dataset, EDA and nine-phase pipeline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B75C3F-5919-8C72-9B1F-ABE9F3841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FA59287-EA86-DB8F-6ED1-9094AC2D0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8A7C6C7-420B-F813-6A39-8199D8F334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650876"/>
            <a:ext cx="4429124" cy="1455525"/>
          </a:xfrm>
        </p:spPr>
        <p:txBody>
          <a:bodyPr/>
          <a:lstStyle/>
          <a:p>
            <a:pPr algn="just"/>
            <a:r>
              <a:rPr lang="en-US" altLang="ko-KR"/>
              <a:t>Dataset and EDA</a:t>
            </a:r>
            <a:endParaRPr lang="en-US" altLang="ko-KR" dirty="0"/>
          </a:p>
          <a:p>
            <a:pPr lvl="1" algn="just"/>
            <a:r>
              <a:rPr lang="en-US" altLang="ko-KR"/>
              <a:t>120,000 train / 7,600 test; stratified 90/10 → 108k train / 12k val; test touched only for final reporting.</a:t>
            </a:r>
          </a:p>
          <a:p>
            <a:pPr lvl="1" algn="just"/>
            <a:r>
              <a:rPr lang="en-US" altLang="ko-KR"/>
              <a:t>Balanced classes; Cleanlab flags 2,852 (2.6 %) likely mislabels, mostly on the Business ↔ Sci/Tech boundary; BERTopic for topic structure.</a:t>
            </a:r>
            <a:endParaRPr lang="ko-KR" altLang="en-US" dirty="0"/>
          </a:p>
        </p:txBody>
      </p:sp>
      <p:pic>
        <p:nvPicPr>
          <p:cNvPr id="1026" name="Picture 2" descr="Class distribution">
            <a:extLst>
              <a:ext uri="{FF2B5EF4-FFF2-40B4-BE49-F238E27FC236}">
                <a16:creationId xmlns:a16="http://schemas.microsoft.com/office/drawing/2014/main" id="{E701D19F-218A-D5B8-DF1D-74DF4EDEE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459" y="2656964"/>
            <a:ext cx="1981089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EC3E9912-8C23-748D-0A4C-31F732AC1DC3}"/>
              </a:ext>
            </a:extLst>
          </p:cNvPr>
          <p:cNvSpPr txBox="1">
            <a:spLocks/>
          </p:cNvSpPr>
          <p:nvPr/>
        </p:nvSpPr>
        <p:spPr>
          <a:xfrm>
            <a:off x="522288" y="4442355"/>
            <a:ext cx="4429124" cy="1455525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/>
              <a:t>Nine-phase, 76-day pipeline</a:t>
            </a:r>
          </a:p>
          <a:p>
            <a:pPr lvl="1" algn="just"/>
            <a:r>
              <a:rPr lang="en-US" dirty="0"/>
              <a:t>Data → baselines → transformers → multilingual → few-shot → evaluation → deployment → report; each phase = one runnable </a:t>
            </a:r>
            <a:r>
              <a:rPr lang="en-US" dirty="0">
                <a:highlight>
                  <a:srgbClr val="C0C0C0"/>
                </a:highlight>
              </a:rPr>
              <a:t>scripts/phase</a:t>
            </a:r>
            <a:r>
              <a:rPr lang="en-US">
                <a:highlight>
                  <a:srgbClr val="C0C0C0"/>
                </a:highlight>
              </a:rPr>
              <a:t>{N</a:t>
            </a:r>
            <a:r>
              <a:rPr lang="en-US" altLang="ko-KR">
                <a:highlight>
                  <a:srgbClr val="C0C0C0"/>
                </a:highlight>
              </a:rPr>
              <a:t>}.p</a:t>
            </a:r>
            <a:r>
              <a:rPr lang="en-US">
                <a:highlight>
                  <a:srgbClr val="C0C0C0"/>
                </a:highlight>
              </a:rPr>
              <a:t>y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Every output under </a:t>
            </a:r>
            <a:r>
              <a:rPr lang="en-US" dirty="0">
                <a:highlight>
                  <a:srgbClr val="C0C0C0"/>
                </a:highlight>
              </a:rPr>
              <a:t>outputs/</a:t>
            </a:r>
            <a:r>
              <a:rPr lang="en-US" dirty="0"/>
              <a:t>, every input under </a:t>
            </a:r>
            <a:r>
              <a:rPr lang="en-US" dirty="0">
                <a:highlight>
                  <a:srgbClr val="C0C0C0"/>
                </a:highlight>
              </a:rPr>
              <a:t>configs/</a:t>
            </a:r>
            <a:r>
              <a:rPr lang="en-US" dirty="0"/>
              <a:t> — no implicit state.</a:t>
            </a:r>
            <a:endParaRPr lang="en-US" altLang="ko-KR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1D0E30F-84E5-29DB-B9E6-8E3A3EF57C04}"/>
              </a:ext>
            </a:extLst>
          </p:cNvPr>
          <p:cNvSpPr txBox="1">
            <a:spLocks/>
          </p:cNvSpPr>
          <p:nvPr/>
        </p:nvSpPr>
        <p:spPr>
          <a:xfrm>
            <a:off x="5714753" y="3935824"/>
            <a:ext cx="3814889" cy="16927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100"/>
              <a:t>Figure: Four classes, perfectly balanced (30,000 each)</a:t>
            </a:r>
          </a:p>
        </p:txBody>
      </p:sp>
      <p:pic>
        <p:nvPicPr>
          <p:cNvPr id="1028" name="Picture 4" descr="Text-length histogram">
            <a:extLst>
              <a:ext uri="{FF2B5EF4-FFF2-40B4-BE49-F238E27FC236}">
                <a16:creationId xmlns:a16="http://schemas.microsoft.com/office/drawing/2014/main" id="{B112C801-61F9-784E-96AB-E58F340F6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43" y="4442355"/>
            <a:ext cx="1676307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4DD176CE-103C-A877-F6F0-ACF9D74F1B49}"/>
              </a:ext>
            </a:extLst>
          </p:cNvPr>
          <p:cNvSpPr txBox="1">
            <a:spLocks/>
          </p:cNvSpPr>
          <p:nvPr/>
        </p:nvSpPr>
        <p:spPr>
          <a:xfrm>
            <a:off x="5638558" y="5559326"/>
            <a:ext cx="3814889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100"/>
              <a:t>Figure: Median 38 words; 99th percentile ≈ 80 → max</a:t>
            </a:r>
            <a:r>
              <a:rPr lang="en-US" altLang="ko-KR" sz="110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ko-KR" sz="1100"/>
              <a:t>len 256</a:t>
            </a:r>
          </a:p>
        </p:txBody>
      </p:sp>
    </p:spTree>
    <p:extLst>
      <p:ext uri="{BB962C8B-B14F-4D97-AF65-F5344CB8AC3E}">
        <p14:creationId xmlns:p14="http://schemas.microsoft.com/office/powerpoint/2010/main" val="1827937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6B55-684A-E703-9E2E-E7E7B5389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23C53-A4E0-841D-1A41-6097BA38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984885"/>
          </a:xfrm>
        </p:spPr>
        <p:txBody>
          <a:bodyPr/>
          <a:lstStyle/>
          <a:p>
            <a:r>
              <a:rPr lang="en-US" altLang="en-US"/>
              <a:t>Establishing the reference point, then        scaling up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D47E87-F81A-AA2F-930D-648E6C2D9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2.1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EAD54D-189A-B29A-5B08-FD1525A0D8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000" y="450001"/>
            <a:ext cx="6837808" cy="276871"/>
          </a:xfrm>
        </p:spPr>
        <p:txBody>
          <a:bodyPr/>
          <a:lstStyle/>
          <a:p>
            <a:r>
              <a:rPr lang="en-US" altLang="en-US" b="1"/>
              <a:t>Classical </a:t>
            </a:r>
            <a:r>
              <a:rPr lang="en-US" altLang="en-US" b="1" dirty="0"/>
              <a:t>baselines and transformer </a:t>
            </a:r>
            <a:r>
              <a:rPr lang="en-US" altLang="en-US" b="1"/>
              <a:t>scale ablation</a:t>
            </a:r>
            <a:endParaRPr lang="en-US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299745-E9B8-9C59-8293-5BAF8574D6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5DCEE88-EF70-FEDA-E7B8-0ECCAA245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36E385D-C605-D6CB-84D6-2C915064B2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650877"/>
            <a:ext cx="8055439" cy="572383"/>
          </a:xfrm>
        </p:spPr>
        <p:txBody>
          <a:bodyPr/>
          <a:lstStyle/>
          <a:p>
            <a:r>
              <a:rPr lang="en-US" altLang="ko-KR"/>
              <a:t>Classical baselines (the sanity check, F1-macro)</a:t>
            </a:r>
            <a:endParaRPr lang="en-US" altLang="ko-KR" dirty="0"/>
          </a:p>
          <a:p>
            <a:pPr lvl="1"/>
            <a:r>
              <a:rPr lang="en-US" altLang="ko-KR" dirty="0"/>
              <a:t>TF-IDF + Linear SVM </a:t>
            </a:r>
            <a:r>
              <a:rPr lang="en-US" altLang="ko-KR" b="1" dirty="0"/>
              <a:t>92.54 %</a:t>
            </a:r>
            <a:r>
              <a:rPr lang="en-US" altLang="ko-KR" dirty="0"/>
              <a:t>, TF-IDF + LogReg 91.64 %, FastText 91.70 % (~2.5 min total, CPU).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4E991629-792D-9A94-B864-220198D9A820}"/>
              </a:ext>
            </a:extLst>
          </p:cNvPr>
          <p:cNvSpPr txBox="1">
            <a:spLocks/>
          </p:cNvSpPr>
          <p:nvPr/>
        </p:nvSpPr>
        <p:spPr>
          <a:xfrm>
            <a:off x="522288" y="3449252"/>
            <a:ext cx="8055439" cy="1336108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Transformer scale ablation (English, F1-macro)</a:t>
            </a:r>
            <a:endParaRPr lang="en-US"/>
          </a:p>
          <a:p>
            <a:pPr lvl="1"/>
            <a:r>
              <a:rPr lang="en-US" altLang="ko-KR"/>
              <a:t>DeBERTa-v3-small </a:t>
            </a:r>
            <a:r>
              <a:rPr lang="en-US" altLang="ko-KR" dirty="0"/>
              <a:t>94.63 % (44 M) → ModernBERT-base 94.71 % (149 M) → DeBERTa-v3-base 94.93 % (184 M) → ModernBERT-large 94.98 % (395 </a:t>
            </a:r>
            <a:r>
              <a:rPr lang="en-US" altLang="ko-KR"/>
              <a:t>M).</a:t>
            </a:r>
          </a:p>
          <a:p>
            <a:pPr lvl="1"/>
            <a:r>
              <a:rPr lang="en-US" altLang="ko-KR" dirty="0"/>
              <a:t>Strong encoders beat the best classical baseline by 2.44 pp — but a single checkpoint still sits 0.02 pp below the 0.95 target.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6641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A10F-397E-7496-8055-71A151AD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D56DC-DAE0-33A3-7639-F36DCF4EA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</p:spPr>
        <p:txBody>
          <a:bodyPr/>
          <a:lstStyle/>
          <a:p>
            <a:r>
              <a:rPr lang="en-US" altLang="en-US"/>
              <a:t>Closing the last 0.3 pp to meet O1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A8527-3EAB-1E7D-A33B-96E202E6B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2.2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121DBE-A231-2794-AE58-1FE3C83E3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000" y="450001"/>
            <a:ext cx="6837808" cy="276871"/>
          </a:xfrm>
        </p:spPr>
        <p:txBody>
          <a:bodyPr/>
          <a:lstStyle/>
          <a:p>
            <a:r>
              <a:rPr lang="en-US" altLang="en-US" b="1"/>
              <a:t>Variance </a:t>
            </a:r>
            <a:r>
              <a:rPr lang="en-US" altLang="en-US" b="1" dirty="0"/>
              <a:t>reduction: R-Drop + </a:t>
            </a:r>
            <a:r>
              <a:rPr lang="en-US" altLang="en-US" b="1"/>
              <a:t>3-seed ensemble</a:t>
            </a:r>
            <a:endParaRPr lang="en-US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21F84C-5936-C878-2B6D-B619480022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1D1A797-27B9-CE4B-7268-F4061062B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9060E08-804B-B5A4-8517-A2D517502E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140337"/>
            <a:ext cx="8055439" cy="1051172"/>
          </a:xfrm>
        </p:spPr>
        <p:txBody>
          <a:bodyPr/>
          <a:lstStyle/>
          <a:p>
            <a:r>
              <a:rPr lang="en-US" altLang="ko-KR"/>
              <a:t>The method</a:t>
            </a:r>
            <a:endParaRPr lang="en-US" altLang="ko-KR" dirty="0"/>
          </a:p>
          <a:p>
            <a:pPr lvl="1"/>
            <a:r>
              <a:rPr lang="en-US" altLang="ko-KR" dirty="0"/>
              <a:t>2×3 ablation grid: {vanilla, +R-Drop} × seeds {13, 42, 73} on </a:t>
            </a:r>
            <a:r>
              <a:rPr lang="en-US" altLang="ko-KR"/>
              <a:t>ModernBERT-large.</a:t>
            </a:r>
          </a:p>
          <a:p>
            <a:pPr lvl="1"/>
            <a:r>
              <a:rPr lang="en-US" altLang="ko-KR" dirty="0"/>
              <a:t>R-Drop adds symmetric KL between two stochastic forward passes (Liang et al. [9]); checkpoints combined by soft-voting (Dietterich [10]).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8F5B5E87-66E3-4E1E-7700-7D5E7FB5540B}"/>
              </a:ext>
            </a:extLst>
          </p:cNvPr>
          <p:cNvSpPr txBox="1">
            <a:spLocks/>
          </p:cNvSpPr>
          <p:nvPr/>
        </p:nvSpPr>
        <p:spPr>
          <a:xfrm>
            <a:off x="522287" y="3399402"/>
            <a:ext cx="8055439" cy="1051171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method</a:t>
            </a:r>
          </a:p>
          <a:p>
            <a:pPr lvl="1"/>
            <a:r>
              <a:rPr lang="en-US" altLang="ko-KR" b="1" dirty="0"/>
              <a:t>R-Drop 3-seed ensemble = 0.9528 F1-macro</a:t>
            </a:r>
            <a:r>
              <a:rPr lang="en-US" altLang="ko-KR" dirty="0"/>
              <a:t> — meets O1 by +0.28 pp over </a:t>
            </a:r>
            <a:r>
              <a:rPr lang="en-US" altLang="ko-KR"/>
              <a:t>target.</a:t>
            </a:r>
          </a:p>
          <a:p>
            <a:pPr lvl="1"/>
            <a:r>
              <a:rPr lang="en-US" altLang="ko-KR" dirty="0"/>
              <a:t>Honesty caveat: N=3 seeds → the F-test / paired t-test for variance and mean gains are underpowered (Section 3.3.2.5).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613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6A961-6161-E751-63E9-7A64CB58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180B7-F654-AABA-A373-E47B89F76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984885"/>
          </a:xfrm>
        </p:spPr>
        <p:txBody>
          <a:bodyPr/>
          <a:lstStyle/>
          <a:p>
            <a:r>
              <a:rPr lang="en-US" altLang="en-US"/>
              <a:t>Three languages and a data-efficiency    curve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4B2C2-DC53-FAFD-150A-E4F622B451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2.3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9D6389-0C2B-5DF3-219F-F22F7CF9DB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b="1" dirty="0"/>
              <a:t>Multilingual extension and few-shot SetFit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4D5181-3010-031F-FD83-12D2BF5788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E992488-FDA0-A592-D9DA-E64DE8765B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7A52A2C-754A-A842-3015-FE00DCD023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9" y="2650876"/>
            <a:ext cx="4429124" cy="1883801"/>
          </a:xfrm>
        </p:spPr>
        <p:txBody>
          <a:bodyPr/>
          <a:lstStyle/>
          <a:p>
            <a:pPr algn="just"/>
            <a:r>
              <a:rPr lang="en-US" altLang="ko-KR"/>
              <a:t>Vietnamese + French (OPUS-MT + back-translation)</a:t>
            </a:r>
          </a:p>
          <a:p>
            <a:pPr lvl="1" algn="just"/>
            <a:r>
              <a:rPr lang="en-US" altLang="ko-KR" dirty="0"/>
              <a:t>2×2 grid/language (mDeBERTa-v3 184 M vs XLM-R-large 550 M × back-translation); VI best XLM-R-large + BT </a:t>
            </a:r>
            <a:r>
              <a:rPr lang="en-US" altLang="ko-KR" b="1" dirty="0"/>
              <a:t>0.9041</a:t>
            </a:r>
            <a:r>
              <a:rPr lang="en-US" altLang="ko-KR" dirty="0"/>
              <a:t> (O3); FR best XLM-R-large </a:t>
            </a:r>
            <a:r>
              <a:rPr lang="en-US" altLang="ko-KR" b="1" dirty="0"/>
              <a:t>0.9466</a:t>
            </a:r>
            <a:r>
              <a:rPr lang="en-US" altLang="ko-KR" dirty="0"/>
              <a:t> (O8); scale &gt; augmentation in </a:t>
            </a:r>
            <a:r>
              <a:rPr lang="en-US" altLang="ko-KR"/>
              <a:t>low-resource.</a:t>
            </a:r>
          </a:p>
          <a:p>
            <a:pPr lvl="1" algn="just"/>
            <a:r>
              <a:rPr lang="en-US" altLang="ko-KR" dirty="0"/>
              <a:t>Corpora are 100 % machine-translated — quality unmeasured (BLEU/chrF/COMET scope-out), an honest bound on the result.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99812763-B9FE-3EF1-CDC0-00CA9E95AF50}"/>
              </a:ext>
            </a:extLst>
          </p:cNvPr>
          <p:cNvSpPr txBox="1">
            <a:spLocks/>
          </p:cNvSpPr>
          <p:nvPr/>
        </p:nvSpPr>
        <p:spPr>
          <a:xfrm>
            <a:off x="522288" y="4760668"/>
            <a:ext cx="4429124" cy="1444189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/>
              <a:t>Few-shot SetFit (data efficiency)</a:t>
            </a:r>
            <a:endParaRPr lang="en-US"/>
          </a:p>
          <a:p>
            <a:pPr lvl="1" algn="just"/>
            <a:r>
              <a:rPr lang="en-US" altLang="ko-KR" dirty="0"/>
              <a:t>K = 8/16/32/64 per class; @64 reaches 0.8755 — recovers 92.2 % of supervised F1 with 0.24 % of </a:t>
            </a:r>
            <a:r>
              <a:rPr lang="en-US" altLang="ko-KR"/>
              <a:t>the labels.</a:t>
            </a:r>
          </a:p>
          <a:p>
            <a:pPr lvl="1" algn="just"/>
            <a:r>
              <a:rPr lang="en-US" altLang="ko-KR" dirty="0"/>
              <a:t>Misses the 0.93 target (S2) but tells a strong label-efficiency story.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C56BE769-C5CF-CBC4-C57C-5C4200477FF9}"/>
              </a:ext>
            </a:extLst>
          </p:cNvPr>
          <p:cNvSpPr txBox="1">
            <a:spLocks/>
          </p:cNvSpPr>
          <p:nvPr/>
        </p:nvSpPr>
        <p:spPr>
          <a:xfrm>
            <a:off x="5638560" y="5540625"/>
            <a:ext cx="3814889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100"/>
              <a:t>Figure: SetFit recovers 92.2 % of supervised F1 with 0.24 % of the labels</a:t>
            </a:r>
          </a:p>
        </p:txBody>
      </p:sp>
      <p:pic>
        <p:nvPicPr>
          <p:cNvPr id="2050" name="Picture 2" descr="SetFit data-efficiency learning curve (K = 8/16/32/64)">
            <a:extLst>
              <a:ext uri="{FF2B5EF4-FFF2-40B4-BE49-F238E27FC236}">
                <a16:creationId xmlns:a16="http://schemas.microsoft.com/office/drawing/2014/main" id="{C0E5F31F-4D83-B2BE-92D2-DF9A2312F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560" y="3086748"/>
            <a:ext cx="3814889" cy="233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5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0360-3679-0940-C93B-E89C4896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07077-15D7-9BAB-16C9-D2F13157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663357" cy="984885"/>
          </a:xfrm>
        </p:spPr>
        <p:txBody>
          <a:bodyPr/>
          <a:lstStyle/>
          <a:p>
            <a:r>
              <a:rPr lang="en-US" altLang="en-US"/>
              <a:t>Trustworthy probabilities and transparent decisions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4CCA57-95A3-5D1C-FC7A-7D0D716E91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3.1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E649C1-FCFE-49DB-8856-ED34036FBF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000" y="450001"/>
            <a:ext cx="6837808" cy="276871"/>
          </a:xfrm>
        </p:spPr>
        <p:txBody>
          <a:bodyPr/>
          <a:lstStyle/>
          <a:p>
            <a:r>
              <a:rPr lang="en-US" altLang="en-US" b="1"/>
              <a:t>Calibration and explainability</a:t>
            </a:r>
            <a:endParaRPr lang="en-US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09354A-5BD7-86AB-EBC6-90687B15EA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800185F-7A87-057A-3CF9-3E44AFB9ED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E920419-E72A-054E-663A-E60ABF2217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9" y="2650875"/>
            <a:ext cx="4429124" cy="1316227"/>
          </a:xfrm>
        </p:spPr>
        <p:txBody>
          <a:bodyPr/>
          <a:lstStyle/>
          <a:p>
            <a:pPr algn="just"/>
            <a:r>
              <a:rPr lang="en-US" altLang="ko-KR"/>
              <a:t>Calibration (meets O4)</a:t>
            </a:r>
          </a:p>
          <a:p>
            <a:pPr lvl="1" algn="just"/>
            <a:r>
              <a:rPr lang="en-US" altLang="ko-KR" dirty="0"/>
              <a:t>4-calibrator grid: baseline / temperature / class-wise isotonic / chained T→</a:t>
            </a:r>
            <a:r>
              <a:rPr lang="en-US" altLang="ko-KR"/>
              <a:t>isotonic.</a:t>
            </a:r>
          </a:p>
          <a:p>
            <a:pPr lvl="1" algn="just"/>
            <a:r>
              <a:rPr lang="en-US" altLang="ko-KR" dirty="0"/>
              <a:t>Chained T→isotonic drops </a:t>
            </a:r>
            <a:r>
              <a:rPr lang="en-US" altLang="ko-KR" b="1" dirty="0"/>
              <a:t>ECE 0.0502 </a:t>
            </a:r>
            <a:r>
              <a:rPr lang="en-US" altLang="ko-KR" b="1"/>
              <a:t>→ 0.0285 </a:t>
            </a:r>
          </a:p>
          <a:p>
            <a:pPr marL="177747" lvl="1" indent="0" algn="just">
              <a:buNone/>
            </a:pPr>
            <a:r>
              <a:rPr lang="en-US" altLang="ko-KR" b="1"/>
              <a:t>	</a:t>
            </a:r>
            <a:r>
              <a:rPr lang="en-US" altLang="ko-KR"/>
              <a:t>(</a:t>
            </a:r>
            <a:r>
              <a:rPr lang="en-US" altLang="ko-KR" dirty="0"/>
              <a:t>≤ 0.03); SE caveat per Roelofs [36], Vaicenavicius [37].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F4F3D73-CB1D-E5EC-302B-A4DA4B43BCA3}"/>
              </a:ext>
            </a:extLst>
          </p:cNvPr>
          <p:cNvSpPr txBox="1">
            <a:spLocks/>
          </p:cNvSpPr>
          <p:nvPr/>
        </p:nvSpPr>
        <p:spPr>
          <a:xfrm>
            <a:off x="522288" y="4133458"/>
            <a:ext cx="4429124" cy="1469208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/>
              <a:t>Explainability + error analysis</a:t>
            </a:r>
            <a:endParaRPr lang="en-US"/>
          </a:p>
          <a:p>
            <a:pPr lvl="1" algn="just"/>
            <a:r>
              <a:rPr lang="en-US" altLang="ko-KR" dirty="0"/>
              <a:t>SHAP TextExplainer [18] + LIME [19] run on the deployed model and surfaced in the UI — not buried in </a:t>
            </a:r>
            <a:r>
              <a:rPr lang="en-US" altLang="ko-KR"/>
              <a:t>an appendix</a:t>
            </a:r>
            <a:r>
              <a:rPr lang="en-US"/>
              <a:t>.</a:t>
            </a:r>
          </a:p>
          <a:p>
            <a:pPr lvl="1" algn="just"/>
            <a:r>
              <a:rPr lang="en-US" altLang="ko-KR" dirty="0"/>
              <a:t>Business ↔ Sci/Tech accounts for </a:t>
            </a:r>
            <a:r>
              <a:rPr lang="en-US" altLang="ko-KR" b="1" dirty="0"/>
              <a:t>52.4 %</a:t>
            </a:r>
            <a:r>
              <a:rPr lang="en-US" altLang="ko-KR" dirty="0"/>
              <a:t> of the 380 test errors — the dominant, interpretable failure mode.</a:t>
            </a:r>
            <a:endParaRPr lang="en-US" altLang="ko-KR"/>
          </a:p>
        </p:txBody>
      </p:sp>
      <p:pic>
        <p:nvPicPr>
          <p:cNvPr id="1026" name="Picture 2" descr="Reliability diagram — chained T→isotonic calibrator">
            <a:extLst>
              <a:ext uri="{FF2B5EF4-FFF2-40B4-BE49-F238E27FC236}">
                <a16:creationId xmlns:a16="http://schemas.microsoft.com/office/drawing/2014/main" id="{978BE816-3845-E1EB-960D-E9C88877D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727" y="2650875"/>
            <a:ext cx="118872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B65F8E59-26BE-8C10-381D-7EA4962B42D3}"/>
              </a:ext>
            </a:extLst>
          </p:cNvPr>
          <p:cNvSpPr txBox="1">
            <a:spLocks/>
          </p:cNvSpPr>
          <p:nvPr/>
        </p:nvSpPr>
        <p:spPr>
          <a:xfrm>
            <a:off x="5125743" y="3782435"/>
            <a:ext cx="2076689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600"/>
              <a:t>Figure: Chained T→isotonic calibration drops ECE from 0.0502 to 0.0285 (≤ 0.03)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4169C63-7900-B47F-7B1E-8262159CC87F}"/>
              </a:ext>
            </a:extLst>
          </p:cNvPr>
          <p:cNvSpPr txBox="1">
            <a:spLocks/>
          </p:cNvSpPr>
          <p:nvPr/>
        </p:nvSpPr>
        <p:spPr>
          <a:xfrm>
            <a:off x="7376762" y="3782436"/>
            <a:ext cx="2076688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600"/>
              <a:t>Figure: Business ↔ Sci/Tech accounts for 52.4 % of the 380 test errors</a:t>
            </a:r>
          </a:p>
        </p:txBody>
      </p:sp>
      <p:pic>
        <p:nvPicPr>
          <p:cNvPr id="1028" name="Picture 4" descr="Confusion matrix — ModernBERT-large, test set n = 7,600">
            <a:extLst>
              <a:ext uri="{FF2B5EF4-FFF2-40B4-BE49-F238E27FC236}">
                <a16:creationId xmlns:a16="http://schemas.microsoft.com/office/drawing/2014/main" id="{B603DD6A-6965-5F5E-7489-A90DF27CE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756" y="2650875"/>
            <a:ext cx="1282699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DA0EDB10-B570-14AB-BBE6-32A362E13633}"/>
              </a:ext>
            </a:extLst>
          </p:cNvPr>
          <p:cNvSpPr txBox="1">
            <a:spLocks/>
          </p:cNvSpPr>
          <p:nvPr/>
        </p:nvSpPr>
        <p:spPr>
          <a:xfrm>
            <a:off x="5125743" y="5418000"/>
            <a:ext cx="2076689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600"/>
              <a:t>Figure: SHAP — finance tokens push a Sci/Tech article toward Business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18691FB-2007-D9F9-FB70-232DD6E07315}"/>
              </a:ext>
            </a:extLst>
          </p:cNvPr>
          <p:cNvSpPr txBox="1">
            <a:spLocks/>
          </p:cNvSpPr>
          <p:nvPr/>
        </p:nvSpPr>
        <p:spPr>
          <a:xfrm>
            <a:off x="7376760" y="5418000"/>
            <a:ext cx="2076689" cy="18466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600"/>
              <a:t>Figure: LIME on the same article — both methods blame the same tokens</a:t>
            </a:r>
          </a:p>
        </p:txBody>
      </p:sp>
      <p:pic>
        <p:nvPicPr>
          <p:cNvPr id="1032" name="Picture 8" descr="LIME token weights — same article, cross-method agreement">
            <a:extLst>
              <a:ext uri="{FF2B5EF4-FFF2-40B4-BE49-F238E27FC236}">
                <a16:creationId xmlns:a16="http://schemas.microsoft.com/office/drawing/2014/main" id="{A03135B4-25F0-62B3-26CE-7C8E10550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760" y="4931656"/>
            <a:ext cx="2075688" cy="45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AP token attribution — Sci/Tech article misread as Business">
            <a:extLst>
              <a:ext uri="{FF2B5EF4-FFF2-40B4-BE49-F238E27FC236}">
                <a16:creationId xmlns:a16="http://schemas.microsoft.com/office/drawing/2014/main" id="{D917C51F-5303-54A9-B223-4FFDAC94E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744" y="5105705"/>
            <a:ext cx="2075688" cy="24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50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3272-4122-6099-6830-44F281AE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72C95-FB69-D880-8D87-A85630735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984885"/>
          </a:xfrm>
        </p:spPr>
        <p:txBody>
          <a:bodyPr/>
          <a:lstStyle/>
          <a:p>
            <a:r>
              <a:rPr lang="en-US" altLang="en-US"/>
              <a:t>Twelve models, one Pareto front, one live app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C8A02E-5EE6-5C9E-445E-4113126F19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3.2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C6D207-24EA-3959-0D13-76DB091B6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b="1" dirty="0"/>
              <a:t>Latency–accuracy Pareto front and live demo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428470-6DDB-BA13-A886-6DB205854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2D98C2D-9536-C680-812A-91A3DAC22D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BBA2F23-42EC-AB1E-BF76-9E983848F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9" y="2650876"/>
            <a:ext cx="4429124" cy="1723003"/>
          </a:xfrm>
        </p:spPr>
        <p:txBody>
          <a:bodyPr/>
          <a:lstStyle/>
          <a:p>
            <a:pPr algn="just"/>
            <a:r>
              <a:rPr lang="en-US" altLang="ko-KR"/>
              <a:t>Deployment engineering</a:t>
            </a:r>
            <a:endParaRPr lang="en-US" altLang="ko-KR" dirty="0"/>
          </a:p>
          <a:p>
            <a:pPr lvl="1" algn="just"/>
            <a:r>
              <a:rPr lang="en-US" altLang="ko-KR" dirty="0"/>
              <a:t>All 12 encoders → ONNX opset 17 → dynamic INT8 via Optimum; full 12-row latency–accuracy Pareto front on one </a:t>
            </a:r>
            <a:r>
              <a:rPr lang="en-US" altLang="ko-KR"/>
              <a:t>host.</a:t>
            </a:r>
          </a:p>
          <a:p>
            <a:pPr lvl="1" algn="just"/>
            <a:r>
              <a:rPr lang="en-US" altLang="ko-KR" dirty="0"/>
              <a:t>Pareto-optimal single checkpoint: </a:t>
            </a:r>
            <a:r>
              <a:rPr lang="en-US" altLang="ko-KR" b="1" dirty="0"/>
              <a:t>ModernBERT-base INT8</a:t>
            </a:r>
            <a:r>
              <a:rPr lang="en-US" altLang="ko-KR" dirty="0"/>
              <a:t> (147 MB, 94.71 % F1, 289.83 ms/sample, single-stream CPU).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C6AE3650-9712-D037-67E4-3565AC20FB77}"/>
              </a:ext>
            </a:extLst>
          </p:cNvPr>
          <p:cNvSpPr txBox="1">
            <a:spLocks/>
          </p:cNvSpPr>
          <p:nvPr/>
        </p:nvSpPr>
        <p:spPr>
          <a:xfrm>
            <a:off x="522288" y="4599870"/>
            <a:ext cx="4429124" cy="1723002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/>
              <a:t>Live Gradio demo (embedded video)</a:t>
            </a:r>
            <a:endParaRPr lang="en-US"/>
          </a:p>
          <a:p>
            <a:pPr lvl="1" algn="just"/>
            <a:r>
              <a:rPr lang="en-US" altLang="ko-KR" dirty="0"/>
              <a:t>One dropdown over all 12 checkpoints; automatic EN/VI/FR routing; sliding-window long-document path; SHAP </a:t>
            </a:r>
            <a:r>
              <a:rPr lang="en-US" altLang="ko-KR"/>
              <a:t>highlighting.</a:t>
            </a:r>
          </a:p>
          <a:p>
            <a:pPr lvl="1" algn="just"/>
            <a:r>
              <a:rPr lang="en-US" altLang="ko-KR" dirty="0"/>
              <a:t>O5 latency miss is hardware-bounded (no INT8 model clears 50 ms @batch 1 on commodity x86) — reported, not hidden.</a:t>
            </a:r>
            <a:endParaRPr lang="en-US" altLang="ko-KR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434E836-432E-B9FA-480B-6038CD590E14}"/>
              </a:ext>
            </a:extLst>
          </p:cNvPr>
          <p:cNvSpPr txBox="1">
            <a:spLocks/>
          </p:cNvSpPr>
          <p:nvPr/>
        </p:nvSpPr>
        <p:spPr>
          <a:xfrm>
            <a:off x="5638561" y="5566952"/>
            <a:ext cx="3814889" cy="33855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algn="l" defTabSz="914126" rtl="0" eaLnBrk="1" latinLnBrk="1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3200" kern="1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100"/>
              <a:t>Figure: ModernBERT-base INT8 is Pareto-optimal (147 MB, 289.83 ms, F1 0.9471)</a:t>
            </a:r>
          </a:p>
        </p:txBody>
      </p:sp>
      <p:pic>
        <p:nvPicPr>
          <p:cNvPr id="2050" name="Picture 2" descr="Twelve-model INT8 latency–accuracy Pareto front">
            <a:extLst>
              <a:ext uri="{FF2B5EF4-FFF2-40B4-BE49-F238E27FC236}">
                <a16:creationId xmlns:a16="http://schemas.microsoft.com/office/drawing/2014/main" id="{FD4365C8-3CB0-592A-B650-CE5D34966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402" y="2869020"/>
            <a:ext cx="3813048" cy="259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91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5A94-09D8-65F4-EE1C-0240B5A4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51E81-72C5-056A-F37C-3D63B5ED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1"/>
            <a:ext cx="8887572" cy="449760"/>
          </a:xfrm>
        </p:spPr>
        <p:txBody>
          <a:bodyPr/>
          <a:lstStyle/>
          <a:p>
            <a:r>
              <a:rPr lang="en-US" altLang="en-US"/>
              <a:t>What was delivered, and what comes next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9DA81-7B6D-804D-7A69-ED28DBDCB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3.3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74037A-6184-3B2C-88FD-F1E4DFFC19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b="1" dirty="0"/>
              <a:t>Conclusions, outcomes and future work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2C6830-BEEA-73DA-4DDA-8EC65EB348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0E1C22E-F1F9-1819-2D6F-D6BD90F676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9FAB6A7-27C0-9CE3-5603-F10D10C273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132716"/>
            <a:ext cx="8055439" cy="1296283"/>
          </a:xfrm>
        </p:spPr>
        <p:txBody>
          <a:bodyPr/>
          <a:lstStyle/>
          <a:p>
            <a:r>
              <a:rPr lang="en-US" altLang="ko-KR"/>
              <a:t>Conclusions</a:t>
            </a:r>
            <a:endParaRPr lang="en-US" altLang="ko-KR" dirty="0"/>
          </a:p>
          <a:p>
            <a:pPr lvl="1"/>
            <a:r>
              <a:rPr lang="en-US" altLang="ko-KR" dirty="0"/>
              <a:t>Performance — R-Drop ensemble 0.9528 (O1); tri-lingual 0.9041 VI / 0.9466 FR (O3, O8); calibrated to 0.0285 (</a:t>
            </a:r>
            <a:r>
              <a:rPr lang="en-US" altLang="ko-KR"/>
              <a:t>O4).</a:t>
            </a:r>
          </a:p>
          <a:p>
            <a:pPr lvl="1"/>
            <a:r>
              <a:rPr lang="en-US" altLang="ko-KR" dirty="0"/>
              <a:t>Breadth — baselines → transformers → multilingual → few-shot → calibration → explainability → INT8 deployment, fully reproducible.</a:t>
            </a:r>
            <a:endParaRPr lang="ko-KR" altLang="en-US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95064C72-A1B7-3D56-2D72-51051999B7C4}"/>
              </a:ext>
            </a:extLst>
          </p:cNvPr>
          <p:cNvSpPr txBox="1">
            <a:spLocks/>
          </p:cNvSpPr>
          <p:nvPr/>
        </p:nvSpPr>
        <p:spPr>
          <a:xfrm>
            <a:off x="522288" y="3671954"/>
            <a:ext cx="8055439" cy="767966"/>
          </a:xfrm>
          <a:prstGeom prst="rect">
            <a:avLst/>
          </a:prstGeom>
        </p:spPr>
        <p:txBody>
          <a:bodyPr lIns="0" tIns="0" rIns="0" bIns="0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Future work</a:t>
            </a:r>
            <a:endParaRPr lang="en-US"/>
          </a:p>
          <a:p>
            <a:pPr lvl="1"/>
            <a:r>
              <a:rPr lang="en-US" altLang="ko-KR" dirty="0"/>
              <a:t>NLLB-200 / shared-encoder multi-task to lift VI &amp; FR; instruction-tuned LLM zero-shot baseline (O2); static-calibration INT8 (O5); continuous-evaluation CI dashboard.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830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0DC12-FA2A-F4DC-550A-EEB23E6E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F4E53-79C6-46B6-B8F4-DBCAEFE8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</p:spPr>
        <p:txBody>
          <a:bodyPr/>
          <a:lstStyle/>
          <a:p>
            <a:pPr algn="ctr"/>
            <a:r>
              <a:rPr lang="en-US" altLang="en-US"/>
              <a:t>Thank you — Questions?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687D6-3F37-8CE6-A2A2-F27F8BD65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000" y="450001"/>
            <a:ext cx="6837808" cy="276871"/>
          </a:xfrm>
        </p:spPr>
        <p:txBody>
          <a:bodyPr/>
          <a:lstStyle/>
          <a:p>
            <a:r>
              <a:rPr lang="en-US" altLang="en-US" b="1" dirty="0"/>
              <a:t>Q</a:t>
            </a:r>
            <a:r>
              <a:rPr lang="en-US" altLang="en-US" b="1"/>
              <a:t>&amp;A / Selected references</a:t>
            </a:r>
            <a:endParaRPr lang="en-US" altLang="en-US" b="1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4D94973-2877-D309-C1CA-3046E5E8B8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88" y="2650877"/>
            <a:ext cx="8055439" cy="641846"/>
          </a:xfrm>
        </p:spPr>
        <p:txBody>
          <a:bodyPr/>
          <a:lstStyle/>
          <a:p>
            <a:r>
              <a:rPr lang="en-US" altLang="ko-KR"/>
              <a:t>Aimer PAM · Vo Hai Dung</a:t>
            </a:r>
          </a:p>
          <a:p>
            <a:pPr lvl="1"/>
            <a:r>
              <a:rPr lang="en-US" altLang="ko-KR">
                <a:hlinkClick r:id="rId2"/>
              </a:rPr>
              <a:t>github.com/VoHaiDung/ag-news-text-classification</a:t>
            </a:r>
            <a:endParaRPr lang="en-US" altLang="ko-KR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908DADBC-0A83-BBFE-9DDD-E28D803EDF01}"/>
              </a:ext>
            </a:extLst>
          </p:cNvPr>
          <p:cNvSpPr txBox="1">
            <a:spLocks/>
          </p:cNvSpPr>
          <p:nvPr/>
        </p:nvSpPr>
        <p:spPr>
          <a:xfrm>
            <a:off x="522287" y="3565277"/>
            <a:ext cx="8055439" cy="2686233"/>
          </a:xfrm>
          <a:prstGeom prst="rect">
            <a:avLst/>
          </a:prstGeom>
        </p:spPr>
        <p:txBody>
          <a:bodyPr lIns="0" tIns="0" rIns="0" bIns="0" numCol="2"/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Selected references</a:t>
            </a:r>
          </a:p>
          <a:p>
            <a:pPr lvl="1"/>
            <a:r>
              <a:rPr lang="en-US" altLang="ko-KR" sz="1100" dirty="0"/>
              <a:t>[1]  Zhang, Zhao &amp; LeCun (2015) — Character-level ConvNets / AG News</a:t>
            </a:r>
          </a:p>
          <a:p>
            <a:pPr lvl="1"/>
            <a:r>
              <a:rPr lang="en-US" sz="1100"/>
              <a:t>[</a:t>
            </a:r>
            <a:r>
              <a:rPr lang="en-US" sz="1100" dirty="0"/>
              <a:t>6]  Warner et al. (2024) — </a:t>
            </a:r>
            <a:r>
              <a:rPr lang="en-US" sz="1100" dirty="0" err="1"/>
              <a:t>ModernBERT</a:t>
            </a:r>
            <a:endParaRPr lang="en-US" sz="1100" dirty="0"/>
          </a:p>
          <a:p>
            <a:pPr lvl="1"/>
            <a:r>
              <a:rPr lang="en-US" sz="1100" dirty="0"/>
              <a:t>[9]  Liang et al. (2021) — R-Drop</a:t>
            </a:r>
          </a:p>
          <a:p>
            <a:pPr lvl="1"/>
            <a:r>
              <a:rPr lang="en-US" sz="1100" dirty="0"/>
              <a:t>[10] Dietterich (2000) — Ensemble methods</a:t>
            </a:r>
          </a:p>
          <a:p>
            <a:pPr lvl="1"/>
            <a:r>
              <a:rPr lang="en-US" sz="1100" dirty="0"/>
              <a:t>[12] Tunstall et al. (2022) — </a:t>
            </a:r>
            <a:r>
              <a:rPr lang="en-US" sz="1100" dirty="0" err="1"/>
              <a:t>SetFit</a:t>
            </a:r>
            <a:endParaRPr lang="en-US" sz="1100" dirty="0"/>
          </a:p>
          <a:p>
            <a:pPr lvl="1"/>
            <a:r>
              <a:rPr lang="en-US" sz="1100" dirty="0"/>
              <a:t>[14] Tiedemann &amp; </a:t>
            </a:r>
            <a:r>
              <a:rPr lang="en-US" sz="1100" dirty="0" err="1"/>
              <a:t>Thottingal</a:t>
            </a:r>
            <a:r>
              <a:rPr lang="en-US" sz="1100" dirty="0"/>
              <a:t> (2020) — OPUS-MT</a:t>
            </a:r>
          </a:p>
          <a:p>
            <a:pPr lvl="1"/>
            <a:r>
              <a:rPr lang="en-US" sz="1100" dirty="0"/>
              <a:t>[18] Lundberg &amp; Lee (2017) — SHAP</a:t>
            </a:r>
          </a:p>
          <a:p>
            <a:pPr lvl="1"/>
            <a:endParaRPr lang="en-US" sz="1100"/>
          </a:p>
          <a:p>
            <a:pPr lvl="1"/>
            <a:r>
              <a:rPr lang="en-US" sz="1100"/>
              <a:t>[</a:t>
            </a:r>
            <a:r>
              <a:rPr lang="en-US" sz="1100" dirty="0"/>
              <a:t>19] Ribeiro et al. (2016) — LIME</a:t>
            </a:r>
          </a:p>
          <a:p>
            <a:pPr lvl="1"/>
            <a:r>
              <a:rPr lang="en-US" sz="1100" dirty="0"/>
              <a:t>[22] Guo et al. (2017) — Temperature scaling</a:t>
            </a:r>
          </a:p>
          <a:p>
            <a:pPr lvl="1"/>
            <a:r>
              <a:rPr lang="en-US" sz="1100" dirty="0"/>
              <a:t>[23] Zadrozny &amp; Elkan (2002) — Isotonic regression</a:t>
            </a:r>
          </a:p>
          <a:p>
            <a:pPr lvl="1"/>
            <a:r>
              <a:rPr lang="en-US" sz="1100" dirty="0"/>
              <a:t>[36] Roelofs et al. (2022) — Calibration-error bias</a:t>
            </a:r>
          </a:p>
          <a:p>
            <a:pPr lvl="1"/>
            <a:r>
              <a:rPr lang="en-US" sz="1100" dirty="0"/>
              <a:t>[37] </a:t>
            </a:r>
            <a:r>
              <a:rPr lang="en-US" sz="1100" dirty="0" err="1"/>
              <a:t>Vaicenavicius</a:t>
            </a:r>
            <a:r>
              <a:rPr lang="en-US" sz="1100" dirty="0"/>
              <a:t> et al. (2019) — Evaluating calibration</a:t>
            </a:r>
          </a:p>
        </p:txBody>
      </p:sp>
    </p:spTree>
    <p:extLst>
      <p:ext uri="{BB962C8B-B14F-4D97-AF65-F5344CB8AC3E}">
        <p14:creationId xmlns:p14="http://schemas.microsoft.com/office/powerpoint/2010/main" val="203275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4498</TotalTime>
  <Words>1416</Words>
  <Application>Microsoft Office PowerPoint</Application>
  <PresentationFormat>Custom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SamsungOne 700</vt:lpstr>
      <vt:lpstr>맑은 고딕</vt:lpstr>
      <vt:lpstr>SamsungOne 400</vt:lpstr>
      <vt:lpstr>Times New Roman</vt:lpstr>
      <vt:lpstr>SamsungOne 400C</vt:lpstr>
      <vt:lpstr>Calibri</vt:lpstr>
      <vt:lpstr>Samsung Sharp Sans</vt:lpstr>
      <vt:lpstr>Samsung Sharp Sans Bold</vt:lpstr>
      <vt:lpstr>Samsung Sharp Sans Medium</vt:lpstr>
      <vt:lpstr>Arial</vt:lpstr>
      <vt:lpstr>Office Theme</vt:lpstr>
      <vt:lpstr>AG News Text Classification</vt:lpstr>
      <vt:lpstr>PowerPoint Presentation</vt:lpstr>
      <vt:lpstr>Why AG News, and why go beyond a single BERT score</vt:lpstr>
      <vt:lpstr>Eight objectives, eight measurable targets</vt:lpstr>
      <vt:lpstr>A clean dataset and a linear, reproducible plan</vt:lpstr>
      <vt:lpstr>Establishing the reference point, then        scaling up</vt:lpstr>
      <vt:lpstr>Closing the last 0.3 pp to meet O1</vt:lpstr>
      <vt:lpstr>Three languages and a data-efficiency    curve</vt:lpstr>
      <vt:lpstr>Trustworthy probabilities and transparent decisions</vt:lpstr>
      <vt:lpstr>Twelve models, one Pareto front, one live app</vt:lpstr>
      <vt:lpstr>What was delivered, and what comes next</vt:lpstr>
      <vt:lpstr>Thank you —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Blue Autumn</cp:lastModifiedBy>
  <cp:revision>2099</cp:revision>
  <dcterms:created xsi:type="dcterms:W3CDTF">2019-07-06T14:12:49Z</dcterms:created>
  <dcterms:modified xsi:type="dcterms:W3CDTF">2026-06-27T10:49:27Z</dcterms:modified>
</cp:coreProperties>
</file>